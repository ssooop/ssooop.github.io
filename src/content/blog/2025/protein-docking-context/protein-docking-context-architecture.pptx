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a4ccc01ee04ae9" /><Relationship Type="http://schemas.openxmlformats.org/officeDocument/2006/relationships/extended-properties" Target="/docProps/app.xml" Id="Re95f1417fcae4ab4" /><Relationship Type="http://schemas.openxmlformats.org/officeDocument/2006/relationships/officeDocument" Target="/ppt/presentation.xml" Id="Ra943564a361748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39bd63adf34cfe"/>
  </p:sldMasterIdLst>
  <p:notesMasterIdLst>
    <p:notesMasterId xmlns:r="http://schemas.openxmlformats.org/officeDocument/2006/relationships" r:id="R65d78b1d57b445ea"/>
  </p:notesMasterIdLst>
  <p:sldIdLst>
    <p:sldId xmlns:r="http://schemas.openxmlformats.org/officeDocument/2006/relationships" id="256" r:id="Rf6f1c6dce6e249f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e0e0d2331140b5" /><Relationship Type="http://schemas.openxmlformats.org/officeDocument/2006/relationships/slideMaster" Target="/ppt/slideMasters/slideMaster1.xml" Id="R9139bd63adf34cfe" /><Relationship Type="http://schemas.openxmlformats.org/officeDocument/2006/relationships/notesMaster" Target="/ppt/notesMasters/notesMaster1.xml" Id="R65d78b1d57b445ea" /><Relationship Type="http://schemas.openxmlformats.org/officeDocument/2006/relationships/presProps" Target="/ppt/presProps.xml" Id="R13b932d44bcd47d0" /><Relationship Type="http://schemas.openxmlformats.org/officeDocument/2006/relationships/tableStyles" Target="/ppt/tableStyles.xml" Id="R181dee89dde044d6" /><Relationship Type="http://schemas.openxmlformats.org/officeDocument/2006/relationships/slide" Target="/ppt/slides/slide1.xml" Id="Rf6f1c6dce6e249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3d76d888df40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cb3179b2db4f3e" /><Relationship Type="http://schemas.openxmlformats.org/officeDocument/2006/relationships/notesMaster" Target="/ppt/notesMasters/notesMaster1.xml" Id="R5128b78d528d4f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architecture diagram, redrawn with permission from the owner: /var/folders/k_/w6lc91jj14ddhh8jjg7w6jgw0000gn/T/codex-clipboard-30a0b62c-a842-4890-bdd5-0663b456a7c3.png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85abcc4bf41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239f8858e942b0" /><Relationship Type="http://schemas.openxmlformats.org/officeDocument/2006/relationships/slideLayout" Target="/ppt/slideLayouts/slideLayout1.xml" Id="Rf56c2a00b24f41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6c2a00b24f41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d8436942e4c4b" /><Relationship Type="http://schemas.openxmlformats.org/officeDocument/2006/relationships/notesSlide" Target="/ppt/notesSlides/notesSlide1.xml" Id="R596eb84bc61344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eyebrow">
            <a:extLst xmlns:a="http://schemas.openxmlformats.org/drawingml/2006/main">
              <a:ext uri="{FF2B5EF4-FFF2-40B4-BE49-F238E27FC236}">
                <a16:creationId xmlns:a16="http://schemas.microsoft.com/office/drawing/2014/main" id="{C28BC167-426D-48BC-9E1A-F577B61E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8F99"/>
                </a:solidFill>
              </a:defRPr>
            </a:pPr>
            <a:r>
              <a:rPr sz="1050" b="1">
                <a:solidFill>
                  <a:srgbClr val="5F8F99"/>
                </a:solidFill>
              </a:rPr>
              <a:t>AI-NATIVE DOCKING ARCHITECTURE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A638D8-FAB4-4A19-AB91-FD8A4483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E3336"/>
                </a:solidFill>
              </a:defRPr>
            </a:pPr>
            <a:r>
              <a:rPr sz="3450" b="1">
                <a:solidFill>
                  <a:srgbClr val="2E3336"/>
                </a:solidFill>
              </a:rPr>
              <a:t>Context-conditioned protein docking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0EE8995-358B-47AD-82E2-953D85ED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238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47B7D"/>
                </a:solidFill>
              </a:defRPr>
            </a:pPr>
            <a:r>
              <a:rPr sz="1425" b="0">
                <a:solidFill>
                  <a:srgbClr val="747B7D"/>
                </a:solidFill>
              </a:rPr>
              <a:t>Fuse physical evidence and evolutionary context, then refine structures through a recurrent feedback loop.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EA7AD6E-4D3D-41D9-B23B-B7514B8D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386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D0C5"/>
            </a:solidFill>
            <a:prstDash val="solid"/>
          </a:ln>
        </p:spPr>
      </p:sp>
      <p:sp>
        <p:nvSpPr>
          <p:cNvPr id="5" name="physical-lane-label">
            <a:extLst xmlns:a="http://schemas.openxmlformats.org/drawingml/2006/main">
              <a:ext uri="{FF2B5EF4-FFF2-40B4-BE49-F238E27FC236}">
                <a16:creationId xmlns:a16="http://schemas.microsoft.com/office/drawing/2014/main" id="{A1B70F8D-C8FD-46F4-9A1A-B37E536B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8F99"/>
                </a:solidFill>
              </a:defRPr>
            </a:pPr>
            <a:r>
              <a:rPr sz="1050" b="1">
                <a:solidFill>
                  <a:srgbClr val="5F8F99"/>
                </a:solidFill>
              </a:rPr>
              <a:t>PHYSICAL CONTEXT</a:t>
            </a:r>
          </a:p>
        </p:txBody>
      </p:sp>
      <p:sp>
        <p:nvSpPr>
          <p:cNvPr id="6" name="sequence-lane-label">
            <a:extLst xmlns:a="http://schemas.openxmlformats.org/drawingml/2006/main">
              <a:ext uri="{FF2B5EF4-FFF2-40B4-BE49-F238E27FC236}">
                <a16:creationId xmlns:a16="http://schemas.microsoft.com/office/drawing/2014/main" id="{E31D7846-A973-44A4-A6B5-68B12546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8B52"/>
                </a:solidFill>
              </a:defRPr>
            </a:pPr>
            <a:r>
              <a:rPr sz="1050" b="1">
                <a:solidFill>
                  <a:srgbClr val="B78B52"/>
                </a:solidFill>
              </a:rPr>
              <a:t>EVOLUTIONARY CONTEXT</a:t>
            </a:r>
          </a:p>
        </p:txBody>
      </p:sp>
      <p:sp>
        <p:nvSpPr>
          <p:cNvPr id="7" name="anchor-physicalCondition">
            <a:extLst xmlns:a="http://schemas.openxmlformats.org/drawingml/2006/main">
              <a:ext uri="{FF2B5EF4-FFF2-40B4-BE49-F238E27FC236}">
                <a16:creationId xmlns:a16="http://schemas.microsoft.com/office/drawing/2014/main" id="{08202094-BBC8-4B2E-8B22-31046C27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76450" cy="990600"/>
          </a:xfrm>
          <a:prstGeom xmlns:a="http://schemas.openxmlformats.org/drawingml/2006/main" prst="roundRect">
            <a:avLst>
              <a:gd name="adj" fmla="val 1730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anchor-compressedRepresentation">
            <a:extLst xmlns:a="http://schemas.openxmlformats.org/drawingml/2006/main">
              <a:ext uri="{FF2B5EF4-FFF2-40B4-BE49-F238E27FC236}">
                <a16:creationId xmlns:a16="http://schemas.microsoft.com/office/drawing/2014/main" id="{BC7E21C9-83E4-41C2-ADA7-D92B29E4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2266950" cy="990600"/>
          </a:xfrm>
          <a:prstGeom xmlns:a="http://schemas.openxmlformats.org/drawingml/2006/main" prst="roundRect">
            <a:avLst>
              <a:gd name="adj" fmla="val 1730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anchor-physicalTensor">
            <a:extLst xmlns:a="http://schemas.openxmlformats.org/drawingml/2006/main">
              <a:ext uri="{FF2B5EF4-FFF2-40B4-BE49-F238E27FC236}">
                <a16:creationId xmlns:a16="http://schemas.microsoft.com/office/drawing/2014/main" id="{2CDC6F60-19C2-4BB2-80D3-E7E4190C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2400300" cy="990600"/>
          </a:xfrm>
          <a:prstGeom xmlns:a="http://schemas.openxmlformats.org/drawingml/2006/main" prst="roundRect">
            <a:avLst>
              <a:gd name="adj" fmla="val 1730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anchor-sequenceRetrieval">
            <a:extLst xmlns:a="http://schemas.openxmlformats.org/drawingml/2006/main">
              <a:ext uri="{FF2B5EF4-FFF2-40B4-BE49-F238E27FC236}">
                <a16:creationId xmlns:a16="http://schemas.microsoft.com/office/drawing/2014/main" id="{A90D646B-F7C4-4F10-AE00-4D11D037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076450" cy="990600"/>
          </a:xfrm>
          <a:prstGeom xmlns:a="http://schemas.openxmlformats.org/drawingml/2006/main" prst="roundRect">
            <a:avLst>
              <a:gd name="adj" fmla="val 1730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anchor-conditionalRank">
            <a:extLst xmlns:a="http://schemas.openxmlformats.org/drawingml/2006/main">
              <a:ext uri="{FF2B5EF4-FFF2-40B4-BE49-F238E27FC236}">
                <a16:creationId xmlns:a16="http://schemas.microsoft.com/office/drawing/2014/main" id="{66D00D36-DE87-4B21-AB58-5C79A785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48250"/>
            <a:ext cx="2266950" cy="990600"/>
          </a:xfrm>
          <a:prstGeom xmlns:a="http://schemas.openxmlformats.org/drawingml/2006/main" prst="roundRect">
            <a:avLst>
              <a:gd name="adj" fmla="val 1730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anchor-evolutionaryTensor">
            <a:extLst xmlns:a="http://schemas.openxmlformats.org/drawingml/2006/main">
              <a:ext uri="{FF2B5EF4-FFF2-40B4-BE49-F238E27FC236}">
                <a16:creationId xmlns:a16="http://schemas.microsoft.com/office/drawing/2014/main" id="{F257986D-C3FC-45CA-BF81-E3326C94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48250"/>
            <a:ext cx="2400300" cy="990600"/>
          </a:xfrm>
          <a:prstGeom xmlns:a="http://schemas.openxmlformats.org/drawingml/2006/main" prst="roundRect">
            <a:avLst>
              <a:gd name="adj" fmla="val 1730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anchor-fusion">
            <a:extLst xmlns:a="http://schemas.openxmlformats.org/drawingml/2006/main">
              <a:ext uri="{FF2B5EF4-FFF2-40B4-BE49-F238E27FC236}">
                <a16:creationId xmlns:a16="http://schemas.microsoft.com/office/drawing/2014/main" id="{0C510700-7BB4-4189-B34E-853EDF61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790700" cy="1143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anchor-decoder">
            <a:extLst xmlns:a="http://schemas.openxmlformats.org/drawingml/2006/main">
              <a:ext uri="{FF2B5EF4-FFF2-40B4-BE49-F238E27FC236}">
                <a16:creationId xmlns:a16="http://schemas.microsoft.com/office/drawing/2014/main" id="{22B45FD1-8954-4D9F-8C73-89BB9776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714750"/>
            <a:ext cx="1885950" cy="1143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anchor-discriminator">
            <a:extLst xmlns:a="http://schemas.openxmlformats.org/drawingml/2006/main">
              <a:ext uri="{FF2B5EF4-FFF2-40B4-BE49-F238E27FC236}">
                <a16:creationId xmlns:a16="http://schemas.microsoft.com/office/drawing/2014/main" id="{E01BE3B0-6B81-4AF4-B26C-897B5E78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714750"/>
            <a:ext cx="1028700" cy="11430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anchor-recurrence">
            <a:extLst xmlns:a="http://schemas.openxmlformats.org/drawingml/2006/main">
              <a:ext uri="{FF2B5EF4-FFF2-40B4-BE49-F238E27FC236}">
                <a16:creationId xmlns:a16="http://schemas.microsoft.com/office/drawing/2014/main" id="{FBF2812D-06DB-4F50-B8F3-120BF286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667500"/>
            <a:ext cx="2400300" cy="895350"/>
          </a:xfrm>
          <a:prstGeom xmlns:a="http://schemas.openxmlformats.org/drawingml/2006/main" prst="roundRect">
            <a:avLst>
              <a:gd name="adj" fmla="val 1914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62250" y="30670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F8F99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05450" y="30670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F8F99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762250" y="5543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8B52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505450" y="5543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8B52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9" idx="3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8382000" y="3067050"/>
            <a:ext cx="1562100" cy="647700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5F8F99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2" idx="3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8382000" y="4857750"/>
            <a:ext cx="1562100" cy="685800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B78B52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839450" y="42862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E3336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3315950" y="42862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E3336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5" idx="2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14306550" y="4857750"/>
            <a:ext cx="19050" cy="22574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8575">
            <a:solidFill>
              <a:srgbClr val="B76556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6" idx="0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 flipV="1">
            <a:off x="1724025" y="2571750"/>
            <a:ext cx="11382375" cy="409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B76556"/>
            </a:solidFill>
            <a:prstDash val="dash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6" idx="1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H="1" flipV="1">
            <a:off x="1724025" y="6038850"/>
            <a:ext cx="10182225" cy="107632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B76556"/>
            </a:solidFill>
            <a:prstDash val="dash"/>
            <a:tailEnd type="triangle" w="sm" len="sm"/>
          </a:ln>
        </p:spPr>
      </p:cxnSp>
      <p:sp>
        <p:nvSpPr>
          <p:cNvPr id="28" name="physical-condition">
            <a:extLst xmlns:a="http://schemas.openxmlformats.org/drawingml/2006/main">
              <a:ext uri="{FF2B5EF4-FFF2-40B4-BE49-F238E27FC236}">
                <a16:creationId xmlns:a16="http://schemas.microsoft.com/office/drawing/2014/main" id="{A4F1C244-3672-412D-9A84-A9A4686B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764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4EEF0"/>
          </a:solidFill>
          <a:ln xmlns:a="http://schemas.openxmlformats.org/drawingml/2006/main" w="19050">
            <a:solidFill>
              <a:srgbClr val="5F8F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physical-condition-accent">
            <a:extLst xmlns:a="http://schemas.openxmlformats.org/drawingml/2006/main">
              <a:ext uri="{FF2B5EF4-FFF2-40B4-BE49-F238E27FC236}">
                <a16:creationId xmlns:a16="http://schemas.microsoft.com/office/drawing/2014/main" id="{899E3445-E205-4A4B-B9B6-3475E0E3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62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8F99"/>
          </a:solidFill>
          <a:ln xmlns:a="http://schemas.openxmlformats.org/drawingml/2006/main" w="0">
            <a:solidFill>
              <a:srgbClr val="5F8F99"/>
            </a:solidFill>
            <a:prstDash val="solid"/>
          </a:ln>
        </p:spPr>
      </p:sp>
      <p:sp>
        <p:nvSpPr>
          <p:cNvPr id="30" name="physical-condition-label">
            <a:extLst xmlns:a="http://schemas.openxmlformats.org/drawingml/2006/main">
              <a:ext uri="{FF2B5EF4-FFF2-40B4-BE49-F238E27FC236}">
                <a16:creationId xmlns:a16="http://schemas.microsoft.com/office/drawing/2014/main" id="{C19F4B2B-FFEA-457A-A08D-DE1B5A3B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771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3336"/>
                </a:solidFill>
              </a:defRPr>
            </a:pPr>
            <a:r>
              <a:rPr sz="1800" b="1">
                <a:solidFill>
                  <a:srgbClr val="2E3336"/>
                </a:solidFill>
              </a:rPr>
              <a:t>Physical</a:t>
            </a:r>
          </a:p>
          <a:p xmlns:a="http://schemas.openxmlformats.org/drawingml/2006/main">
            <a:pPr algn="ctr">
              <a:defRPr sz="1800" b="1">
                <a:solidFill>
                  <a:srgbClr val="2E3336"/>
                </a:solidFill>
              </a:defRPr>
            </a:pPr>
            <a:r>
              <a:rPr sz="1800" b="1">
                <a:solidFill>
                  <a:srgbClr val="2E3336"/>
                </a:solidFill>
              </a:rPr>
              <a:t>condition</a:t>
            </a:r>
          </a:p>
        </p:txBody>
      </p:sp>
      <p:sp>
        <p:nvSpPr>
          <p:cNvPr id="31" name="compressed-representation">
            <a:extLst xmlns:a="http://schemas.openxmlformats.org/drawingml/2006/main">
              <a:ext uri="{FF2B5EF4-FFF2-40B4-BE49-F238E27FC236}">
                <a16:creationId xmlns:a16="http://schemas.microsoft.com/office/drawing/2014/main" id="{5CAF512A-84CB-4755-8F88-D5DBE3E2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22669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9050">
            <a:solidFill>
              <a:srgbClr val="5F8F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compressed-representation-accent">
            <a:extLst xmlns:a="http://schemas.openxmlformats.org/drawingml/2006/main">
              <a:ext uri="{FF2B5EF4-FFF2-40B4-BE49-F238E27FC236}">
                <a16:creationId xmlns:a16="http://schemas.microsoft.com/office/drawing/2014/main" id="{2B9ED649-5EFF-462A-AC92-08088C5C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762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8F99"/>
          </a:solidFill>
          <a:ln xmlns:a="http://schemas.openxmlformats.org/drawingml/2006/main" w="0">
            <a:solidFill>
              <a:srgbClr val="5F8F99"/>
            </a:solidFill>
            <a:prstDash val="solid"/>
          </a:ln>
        </p:spPr>
      </p:sp>
      <p:sp>
        <p:nvSpPr>
          <p:cNvPr id="33" name="compressed-representation-label">
            <a:extLst xmlns:a="http://schemas.openxmlformats.org/drawingml/2006/main">
              <a:ext uri="{FF2B5EF4-FFF2-40B4-BE49-F238E27FC236}">
                <a16:creationId xmlns:a16="http://schemas.microsoft.com/office/drawing/2014/main" id="{95EFCB12-EE61-4839-A361-206313B0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3336"/>
                </a:solidFill>
              </a:defRPr>
            </a:pPr>
            <a:r>
              <a:rPr sz="1575" b="1">
                <a:solidFill>
                  <a:srgbClr val="2E3336"/>
                </a:solidFill>
              </a:rPr>
              <a:t>Compressed</a:t>
            </a:r>
          </a:p>
          <a:p xmlns:a="http://schemas.openxmlformats.org/drawingml/2006/main">
            <a:pPr algn="ctr">
              <a:defRPr sz="1575" b="1">
                <a:solidFill>
                  <a:srgbClr val="2E3336"/>
                </a:solidFill>
              </a:defRPr>
            </a:pPr>
            <a:r>
              <a:rPr sz="1575" b="1">
                <a:solidFill>
                  <a:srgbClr val="2E3336"/>
                </a:solidFill>
              </a:rPr>
              <a:t>representation</a:t>
            </a:r>
          </a:p>
        </p:txBody>
      </p:sp>
      <p:sp>
        <p:nvSpPr>
          <p:cNvPr id="34" name="physical-tensor">
            <a:extLst xmlns:a="http://schemas.openxmlformats.org/drawingml/2006/main">
              <a:ext uri="{FF2B5EF4-FFF2-40B4-BE49-F238E27FC236}">
                <a16:creationId xmlns:a16="http://schemas.microsoft.com/office/drawing/2014/main" id="{9708FF32-E944-4E6B-B9E9-CC452F48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24003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5F8F99"/>
          </a:solidFill>
          <a:ln xmlns:a="http://schemas.openxmlformats.org/drawingml/2006/main" w="19050">
            <a:solidFill>
              <a:srgbClr val="5F8F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physical-tensor-label">
            <a:extLst xmlns:a="http://schemas.openxmlformats.org/drawingml/2006/main">
              <a:ext uri="{FF2B5EF4-FFF2-40B4-BE49-F238E27FC236}">
                <a16:creationId xmlns:a16="http://schemas.microsoft.com/office/drawing/2014/main" id="{E4919812-45D7-4046-8FA6-4261061F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17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EFB"/>
                </a:solidFill>
              </a:defRPr>
            </a:pPr>
            <a:r>
              <a:rPr sz="1650" b="1">
                <a:solidFill>
                  <a:srgbClr val="FFFEFB"/>
                </a:solidFill>
              </a:rPr>
              <a:t>Structural /</a:t>
            </a:r>
          </a:p>
          <a:p xmlns:a="http://schemas.openxmlformats.org/drawingml/2006/main">
            <a:pPr algn="ctr">
              <a:defRPr sz="1650" b="1">
                <a:solidFill>
                  <a:srgbClr val="FFFEFB"/>
                </a:solidFill>
              </a:defRPr>
            </a:pPr>
            <a:r>
              <a:rPr sz="1650" b="1">
                <a:solidFill>
                  <a:srgbClr val="FFFEFB"/>
                </a:solidFill>
              </a:rPr>
              <a:t>physical tensor</a:t>
            </a:r>
          </a:p>
        </p:txBody>
      </p:sp>
      <p:sp>
        <p:nvSpPr>
          <p:cNvPr id="36" name="sequence-retrieval">
            <a:extLst xmlns:a="http://schemas.openxmlformats.org/drawingml/2006/main">
              <a:ext uri="{FF2B5EF4-FFF2-40B4-BE49-F238E27FC236}">
                <a16:creationId xmlns:a16="http://schemas.microsoft.com/office/drawing/2014/main" id="{B5863C09-F5C9-4A6B-9832-939C5C2A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0764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3E9DA"/>
          </a:solidFill>
          <a:ln xmlns:a="http://schemas.openxmlformats.org/drawingml/2006/main" w="19050">
            <a:solidFill>
              <a:srgbClr val="B78B5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sequence-retrieval-accent">
            <a:extLst xmlns:a="http://schemas.openxmlformats.org/drawingml/2006/main">
              <a:ext uri="{FF2B5EF4-FFF2-40B4-BE49-F238E27FC236}">
                <a16:creationId xmlns:a16="http://schemas.microsoft.com/office/drawing/2014/main" id="{7F9F7DF2-E97B-4256-9641-771C9F2A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62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8B52"/>
          </a:solidFill>
          <a:ln xmlns:a="http://schemas.openxmlformats.org/drawingml/2006/main" w="0">
            <a:solidFill>
              <a:srgbClr val="B78B52"/>
            </a:solidFill>
            <a:prstDash val="solid"/>
          </a:ln>
        </p:spPr>
      </p:sp>
      <p:sp>
        <p:nvSpPr>
          <p:cNvPr id="38" name="sequence-retrieval-label">
            <a:extLst xmlns:a="http://schemas.openxmlformats.org/drawingml/2006/main">
              <a:ext uri="{FF2B5EF4-FFF2-40B4-BE49-F238E27FC236}">
                <a16:creationId xmlns:a16="http://schemas.microsoft.com/office/drawing/2014/main" id="{786854DF-B842-4CAA-AD7C-39ABC2F8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771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3336"/>
                </a:solidFill>
              </a:defRPr>
            </a:pPr>
            <a:r>
              <a:rPr sz="1800" b="1">
                <a:solidFill>
                  <a:srgbClr val="2E3336"/>
                </a:solidFill>
              </a:rPr>
              <a:t>Sequence</a:t>
            </a:r>
          </a:p>
          <a:p xmlns:a="http://schemas.openxmlformats.org/drawingml/2006/main">
            <a:pPr algn="ctr">
              <a:defRPr sz="1800" b="1">
                <a:solidFill>
                  <a:srgbClr val="2E3336"/>
                </a:solidFill>
              </a:defRPr>
            </a:pPr>
            <a:r>
              <a:rPr sz="1800" b="1">
                <a:solidFill>
                  <a:srgbClr val="2E3336"/>
                </a:solidFill>
              </a:rPr>
              <a:t>retrieval</a:t>
            </a:r>
          </a:p>
        </p:txBody>
      </p:sp>
      <p:sp>
        <p:nvSpPr>
          <p:cNvPr id="39" name="conditional-rank">
            <a:extLst xmlns:a="http://schemas.openxmlformats.org/drawingml/2006/main">
              <a:ext uri="{FF2B5EF4-FFF2-40B4-BE49-F238E27FC236}">
                <a16:creationId xmlns:a16="http://schemas.microsoft.com/office/drawing/2014/main" id="{88A37C86-836E-40DE-9263-8B7687A9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48250"/>
            <a:ext cx="22669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9050">
            <a:solidFill>
              <a:srgbClr val="B78B5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conditional-rank-accent">
            <a:extLst xmlns:a="http://schemas.openxmlformats.org/drawingml/2006/main">
              <a:ext uri="{FF2B5EF4-FFF2-40B4-BE49-F238E27FC236}">
                <a16:creationId xmlns:a16="http://schemas.microsoft.com/office/drawing/2014/main" id="{9A4BA344-C07D-4EA5-A032-96C24927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48250"/>
            <a:ext cx="762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8B52"/>
          </a:solidFill>
          <a:ln xmlns:a="http://schemas.openxmlformats.org/drawingml/2006/main" w="0">
            <a:solidFill>
              <a:srgbClr val="B78B52"/>
            </a:solidFill>
            <a:prstDash val="solid"/>
          </a:ln>
        </p:spPr>
      </p:sp>
      <p:sp>
        <p:nvSpPr>
          <p:cNvPr id="41" name="conditional-rank-label">
            <a:extLst xmlns:a="http://schemas.openxmlformats.org/drawingml/2006/main">
              <a:ext uri="{FF2B5EF4-FFF2-40B4-BE49-F238E27FC236}">
                <a16:creationId xmlns:a16="http://schemas.microsoft.com/office/drawing/2014/main" id="{1404492D-95C6-43DB-A3D8-228A1BBF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5780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3336"/>
                </a:solidFill>
              </a:defRPr>
            </a:pPr>
            <a:r>
              <a:rPr sz="1650" b="1">
                <a:solidFill>
                  <a:srgbClr val="2E3336"/>
                </a:solidFill>
              </a:rPr>
              <a:t>Conditional</a:t>
            </a:r>
          </a:p>
          <a:p xmlns:a="http://schemas.openxmlformats.org/drawingml/2006/main">
            <a:pPr algn="ctr">
              <a:defRPr sz="1650" b="1">
                <a:solidFill>
                  <a:srgbClr val="2E3336"/>
                </a:solidFill>
              </a:defRPr>
            </a:pPr>
            <a:r>
              <a:rPr sz="1650" b="1">
                <a:solidFill>
                  <a:srgbClr val="2E3336"/>
                </a:solidFill>
              </a:rPr>
              <a:t>rank</a:t>
            </a:r>
          </a:p>
        </p:txBody>
      </p:sp>
      <p:sp>
        <p:nvSpPr>
          <p:cNvPr id="42" name="evolutionary-tensor">
            <a:extLst xmlns:a="http://schemas.openxmlformats.org/drawingml/2006/main">
              <a:ext uri="{FF2B5EF4-FFF2-40B4-BE49-F238E27FC236}">
                <a16:creationId xmlns:a16="http://schemas.microsoft.com/office/drawing/2014/main" id="{A4C27CAA-A98A-4B11-BED6-C85E33D7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48250"/>
            <a:ext cx="24003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B78B52"/>
          </a:solidFill>
          <a:ln xmlns:a="http://schemas.openxmlformats.org/drawingml/2006/main" w="19050">
            <a:solidFill>
              <a:srgbClr val="B78B5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3" name="evolutionary-tensor-label">
            <a:extLst xmlns:a="http://schemas.openxmlformats.org/drawingml/2006/main">
              <a:ext uri="{FF2B5EF4-FFF2-40B4-BE49-F238E27FC236}">
                <a16:creationId xmlns:a16="http://schemas.microsoft.com/office/drawing/2014/main" id="{7E1F3DB0-060C-4843-A3AC-72DD1FCF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57800"/>
            <a:ext cx="217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EFB"/>
                </a:solidFill>
              </a:defRPr>
            </a:pPr>
            <a:r>
              <a:rPr sz="1575" b="1">
                <a:solidFill>
                  <a:srgbClr val="FFFEFB"/>
                </a:solidFill>
              </a:rPr>
              <a:t>Sequence /</a:t>
            </a:r>
          </a:p>
          <a:p xmlns:a="http://schemas.openxmlformats.org/drawingml/2006/main">
            <a:pPr algn="ctr">
              <a:defRPr sz="1575" b="1">
                <a:solidFill>
                  <a:srgbClr val="FFFEFB"/>
                </a:solidFill>
              </a:defRPr>
            </a:pPr>
            <a:r>
              <a:rPr sz="1575" b="1">
                <a:solidFill>
                  <a:srgbClr val="FFFEFB"/>
                </a:solidFill>
              </a:rPr>
              <a:t>evolutionary tensor</a:t>
            </a:r>
          </a:p>
        </p:txBody>
      </p:sp>
      <p:sp>
        <p:nvSpPr>
          <p:cNvPr id="44" name="mmdit-fusion">
            <a:extLst xmlns:a="http://schemas.openxmlformats.org/drawingml/2006/main">
              <a:ext uri="{FF2B5EF4-FFF2-40B4-BE49-F238E27FC236}">
                <a16:creationId xmlns:a16="http://schemas.microsoft.com/office/drawing/2014/main" id="{B8236A54-CA3B-4C99-84E0-C8C124C4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7907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748A76"/>
          </a:solidFill>
          <a:ln xmlns:a="http://schemas.openxmlformats.org/drawingml/2006/main" w="19050">
            <a:solidFill>
              <a:srgbClr val="748A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5" name="mmdit-fusion-label">
            <a:extLst xmlns:a="http://schemas.openxmlformats.org/drawingml/2006/main">
              <a:ext uri="{FF2B5EF4-FFF2-40B4-BE49-F238E27FC236}">
                <a16:creationId xmlns:a16="http://schemas.microsoft.com/office/drawing/2014/main" id="{88F61524-3A57-4D1F-95B6-DA180DBA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81450"/>
            <a:ext cx="1562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EFB"/>
                </a:solidFill>
              </a:defRPr>
            </a:pPr>
            <a:r>
              <a:rPr sz="1800" b="1">
                <a:solidFill>
                  <a:srgbClr val="FFFEFB"/>
                </a:solidFill>
              </a:rPr>
              <a:t>MMDiT</a:t>
            </a:r>
          </a:p>
          <a:p xmlns:a="http://schemas.openxmlformats.org/drawingml/2006/main">
            <a:pPr algn="ctr">
              <a:defRPr sz="1800" b="1">
                <a:solidFill>
                  <a:srgbClr val="FFFEFB"/>
                </a:solidFill>
              </a:defRPr>
            </a:pPr>
            <a:r>
              <a:rPr sz="1800" b="1">
                <a:solidFill>
                  <a:srgbClr val="FFFEFB"/>
                </a:solidFill>
              </a:rPr>
              <a:t>fusion</a:t>
            </a:r>
          </a:p>
        </p:txBody>
      </p:sp>
      <p:sp>
        <p:nvSpPr>
          <p:cNvPr id="46" name="structural-decoder">
            <a:extLst xmlns:a="http://schemas.openxmlformats.org/drawingml/2006/main">
              <a:ext uri="{FF2B5EF4-FFF2-40B4-BE49-F238E27FC236}">
                <a16:creationId xmlns:a16="http://schemas.microsoft.com/office/drawing/2014/main" id="{7208B2B8-18C7-4916-B3A0-B3F36E85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714750"/>
            <a:ext cx="18859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586A79"/>
          </a:solidFill>
          <a:ln xmlns:a="http://schemas.openxmlformats.org/drawingml/2006/main" w="19050">
            <a:solidFill>
              <a:srgbClr val="586A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7" name="structural-decoder-label">
            <a:extLst xmlns:a="http://schemas.openxmlformats.org/drawingml/2006/main">
              <a:ext uri="{FF2B5EF4-FFF2-40B4-BE49-F238E27FC236}">
                <a16:creationId xmlns:a16="http://schemas.microsoft.com/office/drawing/2014/main" id="{988E87F3-2E8C-4A99-BB80-B4E03D80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981450"/>
            <a:ext cx="1657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EFB"/>
                </a:solidFill>
              </a:defRPr>
            </a:pPr>
            <a:r>
              <a:rPr sz="1800" b="1">
                <a:solidFill>
                  <a:srgbClr val="FFFEFB"/>
                </a:solidFill>
              </a:rPr>
              <a:t>Structural</a:t>
            </a:r>
          </a:p>
          <a:p xmlns:a="http://schemas.openxmlformats.org/drawingml/2006/main">
            <a:pPr algn="ctr">
              <a:defRPr sz="1800" b="1">
                <a:solidFill>
                  <a:srgbClr val="FFFEFB"/>
                </a:solidFill>
              </a:defRPr>
            </a:pPr>
            <a:r>
              <a:rPr sz="1800" b="1">
                <a:solidFill>
                  <a:srgbClr val="FFFEFB"/>
                </a:solidFill>
              </a:rPr>
              <a:t>decoder</a:t>
            </a:r>
          </a:p>
        </p:txBody>
      </p:sp>
      <p:sp>
        <p:nvSpPr>
          <p:cNvPr id="48" name="discriminator">
            <a:extLst xmlns:a="http://schemas.openxmlformats.org/drawingml/2006/main">
              <a:ext uri="{FF2B5EF4-FFF2-40B4-BE49-F238E27FC236}">
                <a16:creationId xmlns:a16="http://schemas.microsoft.com/office/drawing/2014/main" id="{3474B311-B4A2-4489-BCD6-3EAB8DD5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714750"/>
            <a:ext cx="10287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336"/>
          </a:solidFill>
          <a:ln xmlns:a="http://schemas.openxmlformats.org/drawingml/2006/main" w="19050">
            <a:solidFill>
              <a:srgbClr val="2E333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9" name="discriminator-label">
            <a:extLst xmlns:a="http://schemas.openxmlformats.org/drawingml/2006/main">
              <a:ext uri="{FF2B5EF4-FFF2-40B4-BE49-F238E27FC236}">
                <a16:creationId xmlns:a16="http://schemas.microsoft.com/office/drawing/2014/main" id="{2B7B1FA5-A589-4050-AC99-92D14B39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396240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EFB"/>
                </a:solidFill>
              </a:defRPr>
            </a:pPr>
            <a:r>
              <a:rPr sz="2850" b="1">
                <a:solidFill>
                  <a:srgbClr val="FFFEFB"/>
                </a:solidFill>
              </a:rPr>
              <a:t>D</a:t>
            </a:r>
          </a:p>
        </p:txBody>
      </p:sp>
      <p:sp>
        <p:nvSpPr>
          <p:cNvPr id="50" name="discriminator-label">
            <a:extLst xmlns:a="http://schemas.openxmlformats.org/drawingml/2006/main">
              <a:ext uri="{FF2B5EF4-FFF2-40B4-BE49-F238E27FC236}">
                <a16:creationId xmlns:a16="http://schemas.microsoft.com/office/drawing/2014/main" id="{84C0AE25-64E4-4020-88C2-EAECDD5F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9911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3336"/>
                </a:solidFill>
              </a:defRPr>
            </a:pPr>
            <a:r>
              <a:rPr sz="1275" b="1">
                <a:solidFill>
                  <a:srgbClr val="2E3336"/>
                </a:solidFill>
              </a:rPr>
              <a:t>Discriminator</a:t>
            </a:r>
          </a:p>
        </p:txBody>
      </p:sp>
      <p:sp>
        <p:nvSpPr>
          <p:cNvPr id="51" name="conditional-recurrence">
            <a:extLst xmlns:a="http://schemas.openxmlformats.org/drawingml/2006/main">
              <a:ext uri="{FF2B5EF4-FFF2-40B4-BE49-F238E27FC236}">
                <a16:creationId xmlns:a16="http://schemas.microsoft.com/office/drawing/2014/main" id="{5A2CC76F-D54D-44B1-9F1D-81A00EB2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667500"/>
            <a:ext cx="2400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4E5E1"/>
          </a:solidFill>
          <a:ln xmlns:a="http://schemas.openxmlformats.org/drawingml/2006/main" w="19050">
            <a:solidFill>
              <a:srgbClr val="B765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2" name="conditional-recurrence-accent">
            <a:extLst xmlns:a="http://schemas.openxmlformats.org/drawingml/2006/main">
              <a:ext uri="{FF2B5EF4-FFF2-40B4-BE49-F238E27FC236}">
                <a16:creationId xmlns:a16="http://schemas.microsoft.com/office/drawing/2014/main" id="{B0694FD6-C269-499B-94FB-60C99A06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667500"/>
            <a:ext cx="7620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6556"/>
          </a:solidFill>
          <a:ln xmlns:a="http://schemas.openxmlformats.org/drawingml/2006/main" w="0">
            <a:solidFill>
              <a:srgbClr val="B76556"/>
            </a:solidFill>
            <a:prstDash val="solid"/>
          </a:ln>
        </p:spPr>
      </p:sp>
      <p:sp>
        <p:nvSpPr>
          <p:cNvPr id="53" name="conditional-recurrence-label">
            <a:extLst xmlns:a="http://schemas.openxmlformats.org/drawingml/2006/main">
              <a:ext uri="{FF2B5EF4-FFF2-40B4-BE49-F238E27FC236}">
                <a16:creationId xmlns:a16="http://schemas.microsoft.com/office/drawing/2014/main" id="{BF7B1DAB-3EEF-487F-85E2-6CFE6724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9532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3336"/>
                </a:solidFill>
              </a:defRPr>
            </a:pPr>
            <a:r>
              <a:rPr sz="1650" b="1">
                <a:solidFill>
                  <a:srgbClr val="2E3336"/>
                </a:solidFill>
              </a:rPr>
              <a:t>Conditional recurrence</a:t>
            </a:r>
          </a:p>
        </p:txBody>
      </p:sp>
      <p:sp>
        <p:nvSpPr>
          <p:cNvPr id="54" name="generation-label">
            <a:extLst xmlns:a="http://schemas.openxmlformats.org/drawingml/2006/main">
              <a:ext uri="{FF2B5EF4-FFF2-40B4-BE49-F238E27FC236}">
                <a16:creationId xmlns:a16="http://schemas.microsoft.com/office/drawing/2014/main" id="{92F8AD44-F213-4008-B193-79CDBDDF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48A76"/>
                </a:solidFill>
              </a:defRPr>
            </a:pPr>
            <a:r>
              <a:rPr sz="1050" b="1">
                <a:solidFill>
                  <a:srgbClr val="748A76"/>
                </a:solidFill>
              </a:rPr>
              <a:t>CONDITIONAL GENERATION</a:t>
            </a:r>
          </a:p>
        </p:txBody>
      </p:sp>
      <p:sp>
        <p:nvSpPr>
          <p:cNvPr id="55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7C360436-6C3D-4AF9-9F86-DF04DAE6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772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6556"/>
                </a:solidFill>
              </a:defRPr>
            </a:pPr>
            <a:r>
              <a:rPr sz="975" b="1">
                <a:solidFill>
                  <a:srgbClr val="B76556"/>
                </a:solidFill>
              </a:rPr>
              <a:t>EXPERIMENTAL / FUNCTIONAL FEEDBACK</a:t>
            </a:r>
          </a:p>
        </p:txBody>
      </p:sp>
      <p:sp>
        <p:nvSpPr>
          <p:cNvPr id="56" name="footer-note">
            <a:extLst xmlns:a="http://schemas.openxmlformats.org/drawingml/2006/main">
              <a:ext uri="{FF2B5EF4-FFF2-40B4-BE49-F238E27FC236}">
                <a16:creationId xmlns:a16="http://schemas.microsoft.com/office/drawing/2014/main" id="{52B6285B-FA95-41A0-A4AD-78BC7FF9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47B7D"/>
                </a:solidFill>
              </a:defRPr>
            </a:pPr>
            <a:r>
              <a:rPr sz="1200" b="0">
                <a:solidFill>
                  <a:srgbClr val="747B7D"/>
                </a:solidFill>
              </a:rPr>
              <a:t>Context is sampled, compressed, decoded and re-ranked - not merely appended as a static model input.</a:t>
            </a:r>
          </a:p>
        </p:txBody>
      </p:sp>
    </p:spTree>
    <p:extLst>
      <p:ext uri="{BB962C8B-B14F-4D97-AF65-F5344CB8AC3E}">
        <p14:creationId xmlns:p14="http://schemas.microsoft.com/office/powerpoint/2010/main" val="906601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2026-07-26T06:18:02.0790000Z</dcterms:created>
  <dcterms:modified xsi:type="dcterms:W3CDTF">2026-07-26T06:18:02.0790000Z</dcterms:modified>
</coreProperties>
</file>