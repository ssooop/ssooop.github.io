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e329a3066b4b94" /><Relationship Type="http://schemas.openxmlformats.org/officeDocument/2006/relationships/extended-properties" Target="/docProps/app.xml" Id="R4ffa9187d0cc4a91" /><Relationship Type="http://schemas.openxmlformats.org/officeDocument/2006/relationships/officeDocument" Target="/ppt/presentation.xml" Id="R26153359e29145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2a9d7dd52f47ec"/>
  </p:sldMasterIdLst>
  <p:notesMasterIdLst>
    <p:notesMasterId xmlns:r="http://schemas.openxmlformats.org/officeDocument/2006/relationships" r:id="Re9e61d32811447cd"/>
  </p:notesMasterIdLst>
  <p:sldIdLst>
    <p:sldId xmlns:r="http://schemas.openxmlformats.org/officeDocument/2006/relationships" id="256" r:id="Rb14965b37e584c7d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d4f0d923e64381" /><Relationship Type="http://schemas.openxmlformats.org/officeDocument/2006/relationships/slideMaster" Target="/ppt/slideMasters/slideMaster1.xml" Id="Rfd2a9d7dd52f47ec" /><Relationship Type="http://schemas.openxmlformats.org/officeDocument/2006/relationships/notesMaster" Target="/ppt/notesMasters/notesMaster1.xml" Id="Re9e61d32811447cd" /><Relationship Type="http://schemas.openxmlformats.org/officeDocument/2006/relationships/presProps" Target="/ppt/presProps.xml" Id="Rc2be666ab8a545a9" /><Relationship Type="http://schemas.openxmlformats.org/officeDocument/2006/relationships/tableStyles" Target="/ppt/tableStyles.xml" Id="Rcea4c9efc9a74380" /><Relationship Type="http://schemas.openxmlformats.org/officeDocument/2006/relationships/slide" Target="/ppt/slides/slide1.xml" Id="Rb14965b37e584c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0bae04d8c641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6ec910aedc46d4" /><Relationship Type="http://schemas.openxmlformats.org/officeDocument/2006/relationships/notesMaster" Target="/ppt/notesMasters/notesMaster1.xml" Id="Rb950608e369947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conceptual diagram, redrawn with permission from the owner: /var/folders/k_/w6lc91jj14ddhh8jjg7w6jgw0000gn/T/codex-clipboard-7c34434e-b077-4bc2-b708-4a2db6c69133.png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979f33924a47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ac19d6c4b64597" /><Relationship Type="http://schemas.openxmlformats.org/officeDocument/2006/relationships/slideLayout" Target="/ppt/slideLayouts/slideLayout1.xml" Id="R12877315b03b43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877315b03b43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5296bd05143b7" /><Relationship Type="http://schemas.openxmlformats.org/officeDocument/2006/relationships/notesSlide" Target="/ppt/notesSlides/notesSlide1.xml" Id="R2cacce9de60e4c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eyebrow">
            <a:extLst xmlns:a="http://schemas.openxmlformats.org/drawingml/2006/main">
              <a:ext uri="{FF2B5EF4-FFF2-40B4-BE49-F238E27FC236}">
                <a16:creationId xmlns:a16="http://schemas.microsoft.com/office/drawing/2014/main" id="{ADBE4B4A-7ABA-42E9-9EFB-D211E44F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8588"/>
                </a:solidFill>
              </a:defRPr>
            </a:pPr>
            <a:r>
              <a:rPr sz="1050" b="1">
                <a:solidFill>
                  <a:srgbClr val="5D8588"/>
                </a:solidFill>
              </a:rPr>
              <a:t>CREATIVE HALLUCINATION · EMPIRICAL DISCIPLINE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35A08BE-8738-4FAC-B317-825139FE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2F3437"/>
                </a:solidFill>
              </a:defRPr>
            </a:pPr>
            <a:r>
              <a:rPr sz="3375" b="1">
                <a:solidFill>
                  <a:srgbClr val="2F3437"/>
                </a:solidFill>
              </a:rPr>
              <a:t>Expanding the boundary of experience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2EFEF30-C202-467B-8BA9-8FE29904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152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47A7A"/>
                </a:solidFill>
              </a:defRPr>
            </a:pPr>
            <a:r>
              <a:rPr sz="1425" b="0">
                <a:solidFill>
                  <a:srgbClr val="747A7A"/>
                </a:solidFill>
              </a:rPr>
              <a:t>Generate beyond the prior. Return every surprising hypothesis to evidence.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B06B08B1-C955-4A5E-9836-79745AE5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386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0C6"/>
            </a:solidFill>
            <a:prstDash val="solid"/>
          </a:ln>
        </p:spPr>
      </p:sp>
      <p:sp>
        <p:nvSpPr>
          <p:cNvPr id="5" name="evidence-label">
            <a:extLst xmlns:a="http://schemas.openxmlformats.org/drawingml/2006/main">
              <a:ext uri="{FF2B5EF4-FFF2-40B4-BE49-F238E27FC236}">
                <a16:creationId xmlns:a16="http://schemas.microsoft.com/office/drawing/2014/main" id="{C14FD399-7966-46CE-AFA4-45301B88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8588"/>
                </a:solidFill>
              </a:defRPr>
            </a:pPr>
            <a:r>
              <a:rPr sz="1050" b="1">
                <a:solidFill>
                  <a:srgbClr val="5D8588"/>
                </a:solidFill>
              </a:rPr>
              <a:t>01 · OBSERVED RESULTS</a:t>
            </a:r>
          </a:p>
        </p:txBody>
      </p:sp>
      <p:sp>
        <p:nvSpPr>
          <p:cNvPr id="6" name="generation-label">
            <a:extLst xmlns:a="http://schemas.openxmlformats.org/drawingml/2006/main">
              <a:ext uri="{FF2B5EF4-FFF2-40B4-BE49-F238E27FC236}">
                <a16:creationId xmlns:a16="http://schemas.microsoft.com/office/drawing/2014/main" id="{3B2046D4-789A-4676-AD74-8B5BB5D6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383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934B"/>
                </a:solidFill>
              </a:defRPr>
            </a:pPr>
            <a:r>
              <a:rPr sz="1050" b="1">
                <a:solidFill>
                  <a:srgbClr val="C4934B"/>
                </a:solidFill>
              </a:rPr>
              <a:t>02 · HYPOTHESIS SPACE</a:t>
            </a:r>
          </a:p>
        </p:txBody>
      </p:sp>
      <p:sp>
        <p:nvSpPr>
          <p:cNvPr id="7" name="test-label">
            <a:extLst xmlns:a="http://schemas.openxmlformats.org/drawingml/2006/main">
              <a:ext uri="{FF2B5EF4-FFF2-40B4-BE49-F238E27FC236}">
                <a16:creationId xmlns:a16="http://schemas.microsoft.com/office/drawing/2014/main" id="{3F52DCC5-0067-4C9C-947E-77E81E48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383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86776"/>
                </a:solidFill>
              </a:defRPr>
            </a:pPr>
            <a:r>
              <a:rPr sz="1050" b="1">
                <a:solidFill>
                  <a:srgbClr val="586776"/>
                </a:solidFill>
              </a:rPr>
              <a:t>03 · TESTABLE INTERPRETATIONS</a:t>
            </a:r>
          </a:p>
        </p:txBody>
      </p:sp>
      <p:sp>
        <p:nvSpPr>
          <p:cNvPr id="8" name="anchor-result2">
            <a:extLst xmlns:a="http://schemas.openxmlformats.org/drawingml/2006/main">
              <a:ext uri="{FF2B5EF4-FFF2-40B4-BE49-F238E27FC236}">
                <a16:creationId xmlns:a16="http://schemas.microsoft.com/office/drawing/2014/main" id="{F0FB555B-55F8-4B13-9AD0-65C39542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876300" cy="876300"/>
          </a:xfrm>
          <a:prstGeom xmlns:a="http://schemas.openxmlformats.org/drawingml/2006/main" prst="roundRect">
            <a:avLst>
              <a:gd name="adj" fmla="val 1956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anchor-result3">
            <a:extLst xmlns:a="http://schemas.openxmlformats.org/drawingml/2006/main">
              <a:ext uri="{FF2B5EF4-FFF2-40B4-BE49-F238E27FC236}">
                <a16:creationId xmlns:a16="http://schemas.microsoft.com/office/drawing/2014/main" id="{6CF8A928-E5D0-41B8-901F-180D35CD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53000"/>
            <a:ext cx="876300" cy="876300"/>
          </a:xfrm>
          <a:prstGeom xmlns:a="http://schemas.openxmlformats.org/drawingml/2006/main" prst="roundRect">
            <a:avLst>
              <a:gd name="adj" fmla="val 1956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anchor-result4">
            <a:extLst xmlns:a="http://schemas.openxmlformats.org/drawingml/2006/main">
              <a:ext uri="{FF2B5EF4-FFF2-40B4-BE49-F238E27FC236}">
                <a16:creationId xmlns:a16="http://schemas.microsoft.com/office/drawing/2014/main" id="{A7B40BE3-FB4D-4306-97E5-CE6F8871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67500"/>
            <a:ext cx="876300" cy="876300"/>
          </a:xfrm>
          <a:prstGeom xmlns:a="http://schemas.openxmlformats.org/drawingml/2006/main" prst="roundRect">
            <a:avLst>
              <a:gd name="adj" fmla="val 1956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anchor-generator">
            <a:extLst xmlns:a="http://schemas.openxmlformats.org/drawingml/2006/main">
              <a:ext uri="{FF2B5EF4-FFF2-40B4-BE49-F238E27FC236}">
                <a16:creationId xmlns:a16="http://schemas.microsoft.com/office/drawing/2014/main" id="{F91F2C71-D221-4812-82DF-09D52308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095750"/>
            <a:ext cx="2857500" cy="1504950"/>
          </a:xfrm>
          <a:prstGeom xmlns:a="http://schemas.openxmlformats.org/drawingml/2006/main" prst="roundRect">
            <a:avLst>
              <a:gd name="adj" fmla="val 1139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anchor-divergence">
            <a:extLst xmlns:a="http://schemas.openxmlformats.org/drawingml/2006/main">
              <a:ext uri="{FF2B5EF4-FFF2-40B4-BE49-F238E27FC236}">
                <a16:creationId xmlns:a16="http://schemas.microsoft.com/office/drawing/2014/main" id="{A02E3A84-D147-4F6A-B278-96AA2E47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638675"/>
            <a:ext cx="666750" cy="666750"/>
          </a:xfrm>
          <a:prstGeom xmlns:a="http://schemas.openxmlformats.org/drawingml/2006/main" prst="roundRect">
            <a:avLst>
              <a:gd name="adj" fmla="val 2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anchor-empirical">
            <a:extLst xmlns:a="http://schemas.openxmlformats.org/drawingml/2006/main">
              <a:ext uri="{FF2B5EF4-FFF2-40B4-BE49-F238E27FC236}">
                <a16:creationId xmlns:a16="http://schemas.microsoft.com/office/drawing/2014/main" id="{B71A8B32-FAE8-4D15-B43F-29664AA7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57500"/>
            <a:ext cx="4286250" cy="1762125"/>
          </a:xfrm>
          <a:prstGeom xmlns:a="http://schemas.openxmlformats.org/drawingml/2006/main" prst="roundRect">
            <a:avLst>
              <a:gd name="adj" fmla="val 973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anchor-counter">
            <a:extLst xmlns:a="http://schemas.openxmlformats.org/drawingml/2006/main">
              <a:ext uri="{FF2B5EF4-FFF2-40B4-BE49-F238E27FC236}">
                <a16:creationId xmlns:a16="http://schemas.microsoft.com/office/drawing/2014/main" id="{21C5B1CC-2D2D-4DDE-A0E0-3A475244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429250"/>
            <a:ext cx="4286250" cy="1762125"/>
          </a:xfrm>
          <a:prstGeom xmlns:a="http://schemas.openxmlformats.org/drawingml/2006/main" prst="roundRect">
            <a:avLst>
              <a:gd name="adj" fmla="val 973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anchor-verify">
            <a:extLst xmlns:a="http://schemas.openxmlformats.org/drawingml/2006/main">
              <a:ext uri="{FF2B5EF4-FFF2-40B4-BE49-F238E27FC236}">
                <a16:creationId xmlns:a16="http://schemas.microsoft.com/office/drawing/2014/main" id="{BFEEFCC3-E4DF-4289-A225-E7155950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953250"/>
            <a:ext cx="2381250" cy="8001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3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924050" y="3676650"/>
            <a:ext cx="3552825" cy="1171575"/>
          </a:xfrm>
          <a:prstGeom xmlns:a="http://schemas.openxmlformats.org/drawingml/2006/main" prst="bentConnector3">
            <a:avLst>
              <a:gd name="adj1" fmla="val 93566"/>
            </a:avLst>
          </a:prstGeom>
          <a:ln xmlns:a="http://schemas.openxmlformats.org/drawingml/2006/main" w="28575">
            <a:solidFill>
              <a:srgbClr val="5D8588"/>
            </a:solidFill>
            <a:prstDash val="solid"/>
            <a:tail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3829050" y="4848225"/>
            <a:ext cx="1647825" cy="542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5D8588"/>
            </a:solidFill>
            <a:prstDash val="solid"/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1924050" y="4848225"/>
            <a:ext cx="3552825" cy="2257425"/>
          </a:xfrm>
          <a:prstGeom xmlns:a="http://schemas.openxmlformats.org/drawingml/2006/main" prst="bentConnector3">
            <a:avLst>
              <a:gd name="adj1" fmla="val 93566"/>
            </a:avLst>
          </a:prstGeom>
          <a:ln xmlns:a="http://schemas.openxmlformats.org/drawingml/2006/main" w="28575">
            <a:solidFill>
              <a:srgbClr val="5D8588"/>
            </a:solidFill>
            <a:prstDash val="solid"/>
            <a:tail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334375" y="4848225"/>
            <a:ext cx="45720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4934B"/>
            </a:solidFill>
            <a:prstDash val="solid"/>
            <a:tail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9458325" y="3738563"/>
            <a:ext cx="638175" cy="12334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B86255"/>
            </a:solidFill>
            <a:prstDash val="solid"/>
            <a:tail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458325" y="4972050"/>
            <a:ext cx="638175" cy="13382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687D70"/>
            </a:solidFill>
            <a:prstDash val="solid"/>
            <a:tail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13" idx="2"/>
            <a:endCxn xmlns:a="http://schemas.openxmlformats.org/drawingml/2006/main" id="15" idx="3"/>
          </p:cNvCxnSpPr>
          <p:nvPr/>
        </p:nvCxnSpPr>
        <p:spPr>
          <a:xfrm xmlns:a="http://schemas.openxmlformats.org/drawingml/2006/main" flipH="1">
            <a:off x="8763000" y="4619625"/>
            <a:ext cx="3476625" cy="2733675"/>
          </a:xfrm>
          <a:prstGeom xmlns:a="http://schemas.openxmlformats.org/drawingml/2006/main" prst="bentConnector5">
            <a:avLst>
              <a:gd name="adj1" fmla="val 0"/>
              <a:gd name="adj2" fmla="val 8362"/>
              <a:gd name="adj3" fmla="val 76712"/>
            </a:avLst>
          </a:prstGeom>
          <a:ln xmlns:a="http://schemas.openxmlformats.org/drawingml/2006/main" w="23813">
            <a:solidFill>
              <a:srgbClr val="586776"/>
            </a:solidFill>
            <a:prstDash val="dash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14" idx="1"/>
            <a:endCxn xmlns:a="http://schemas.openxmlformats.org/drawingml/2006/main" id="15" idx="3"/>
          </p:cNvCxnSpPr>
          <p:nvPr/>
        </p:nvCxnSpPr>
        <p:spPr>
          <a:xfrm xmlns:a="http://schemas.openxmlformats.org/drawingml/2006/main" flipH="1">
            <a:off x="8763000" y="6310313"/>
            <a:ext cx="1333500" cy="10429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586776"/>
            </a:solidFill>
            <a:prstDash val="dash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15" idx="1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H="1">
            <a:off x="1485900" y="7353300"/>
            <a:ext cx="4895850" cy="190500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586776"/>
            </a:solidFill>
            <a:prstDash val="dash"/>
            <a:tailEnd type="triangle" w="sm" len="sm"/>
          </a:ln>
        </p:spPr>
      </p:cxnSp>
      <p:sp>
        <p:nvSpPr>
          <p:cNvPr id="25" name="result-2">
            <a:extLst xmlns:a="http://schemas.openxmlformats.org/drawingml/2006/main">
              <a:ext uri="{FF2B5EF4-FFF2-40B4-BE49-F238E27FC236}">
                <a16:creationId xmlns:a16="http://schemas.microsoft.com/office/drawing/2014/main" id="{7BEC04D6-D847-42BF-AAED-059610A0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6255"/>
          </a:solidFill>
          <a:ln xmlns:a="http://schemas.openxmlformats.org/drawingml/2006/main" w="47625">
            <a:solidFill>
              <a:srgbClr val="F4F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result-2-label">
            <a:extLst xmlns:a="http://schemas.openxmlformats.org/drawingml/2006/main">
              <a:ext uri="{FF2B5EF4-FFF2-40B4-BE49-F238E27FC236}">
                <a16:creationId xmlns:a16="http://schemas.microsoft.com/office/drawing/2014/main" id="{5FD882E0-6094-4860-A7DC-D6C0ABAA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814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86255"/>
                </a:solidFill>
              </a:defRPr>
            </a:pPr>
            <a:r>
              <a:rPr sz="1200" b="1">
                <a:solidFill>
                  <a:srgbClr val="B86255"/>
                </a:solidFill>
              </a:rPr>
              <a:t>RESULT 2</a:t>
            </a:r>
          </a:p>
        </p:txBody>
      </p:sp>
      <p:sp>
        <p:nvSpPr>
          <p:cNvPr id="27" name="result-2-subtitle">
            <a:extLst xmlns:a="http://schemas.openxmlformats.org/drawingml/2006/main">
              <a:ext uri="{FF2B5EF4-FFF2-40B4-BE49-F238E27FC236}">
                <a16:creationId xmlns:a16="http://schemas.microsoft.com/office/drawing/2014/main" id="{B7DC7950-EAC6-4325-82DF-3C05A17C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47A7A"/>
                </a:solidFill>
              </a:defRPr>
            </a:pPr>
            <a:r>
              <a:rPr sz="900" b="0">
                <a:solidFill>
                  <a:srgbClr val="747A7A"/>
                </a:solidFill>
              </a:rPr>
              <a:t>explained</a:t>
            </a:r>
          </a:p>
        </p:txBody>
      </p:sp>
      <p:sp>
        <p:nvSpPr>
          <p:cNvPr id="28" name="result-3">
            <a:extLst xmlns:a="http://schemas.openxmlformats.org/drawingml/2006/main">
              <a:ext uri="{FF2B5EF4-FFF2-40B4-BE49-F238E27FC236}">
                <a16:creationId xmlns:a16="http://schemas.microsoft.com/office/drawing/2014/main" id="{F162969B-887B-4C4A-B014-09D06F9A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530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8588"/>
          </a:solidFill>
          <a:ln xmlns:a="http://schemas.openxmlformats.org/drawingml/2006/main" w="47625">
            <a:solidFill>
              <a:srgbClr val="F4F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sult-3-label">
            <a:extLst xmlns:a="http://schemas.openxmlformats.org/drawingml/2006/main">
              <a:ext uri="{FF2B5EF4-FFF2-40B4-BE49-F238E27FC236}">
                <a16:creationId xmlns:a16="http://schemas.microsoft.com/office/drawing/2014/main" id="{B7A48481-F610-43B1-BBE8-75DE3715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8959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D8588"/>
                </a:solidFill>
              </a:defRPr>
            </a:pPr>
            <a:r>
              <a:rPr sz="1200" b="1">
                <a:solidFill>
                  <a:srgbClr val="5D8588"/>
                </a:solidFill>
              </a:rPr>
              <a:t>RESULT 3</a:t>
            </a:r>
          </a:p>
        </p:txBody>
      </p:sp>
      <p:sp>
        <p:nvSpPr>
          <p:cNvPr id="30" name="result-3-subtitle">
            <a:extLst xmlns:a="http://schemas.openxmlformats.org/drawingml/2006/main">
              <a:ext uri="{FF2B5EF4-FFF2-40B4-BE49-F238E27FC236}">
                <a16:creationId xmlns:a16="http://schemas.microsoft.com/office/drawing/2014/main" id="{A23B638E-DBAD-4E66-BAD4-B48EFCE7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24575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47A7A"/>
                </a:solidFill>
              </a:defRPr>
            </a:pPr>
            <a:r>
              <a:rPr sz="900" b="0">
                <a:solidFill>
                  <a:srgbClr val="747A7A"/>
                </a:solidFill>
              </a:rPr>
              <a:t>observed</a:t>
            </a:r>
          </a:p>
        </p:txBody>
      </p:sp>
      <p:sp>
        <p:nvSpPr>
          <p:cNvPr id="31" name="result-4">
            <a:extLst xmlns:a="http://schemas.openxmlformats.org/drawingml/2006/main">
              <a:ext uri="{FF2B5EF4-FFF2-40B4-BE49-F238E27FC236}">
                <a16:creationId xmlns:a16="http://schemas.microsoft.com/office/drawing/2014/main" id="{3793AA0F-B1B0-43B7-982D-C22E6C77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675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6255"/>
          </a:solidFill>
          <a:ln xmlns:a="http://schemas.openxmlformats.org/drawingml/2006/main" w="47625">
            <a:solidFill>
              <a:srgbClr val="F4F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result-4-label">
            <a:extLst xmlns:a="http://schemas.openxmlformats.org/drawingml/2006/main">
              <a:ext uri="{FF2B5EF4-FFF2-40B4-BE49-F238E27FC236}">
                <a16:creationId xmlns:a16="http://schemas.microsoft.com/office/drawing/2014/main" id="{601E6B5E-8E72-4641-96B0-64196747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104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86255"/>
                </a:solidFill>
              </a:defRPr>
            </a:pPr>
            <a:r>
              <a:rPr sz="1200" b="1">
                <a:solidFill>
                  <a:srgbClr val="B86255"/>
                </a:solidFill>
              </a:rPr>
              <a:t>RESULT 4</a:t>
            </a:r>
          </a:p>
        </p:txBody>
      </p:sp>
      <p:sp>
        <p:nvSpPr>
          <p:cNvPr id="33" name="result-4-subtitle">
            <a:extLst xmlns:a="http://schemas.openxmlformats.org/drawingml/2006/main">
              <a:ext uri="{FF2B5EF4-FFF2-40B4-BE49-F238E27FC236}">
                <a16:creationId xmlns:a16="http://schemas.microsoft.com/office/drawing/2014/main" id="{B806F4BD-E309-4669-84F8-5D4895EE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39075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47A7A"/>
                </a:solidFill>
              </a:defRPr>
            </a:pPr>
            <a:r>
              <a:rPr sz="900" b="0">
                <a:solidFill>
                  <a:srgbClr val="747A7A"/>
                </a:solidFill>
              </a:rPr>
              <a:t>unexpected</a:t>
            </a:r>
          </a:p>
        </p:txBody>
      </p:sp>
      <p:sp>
        <p:nvSpPr>
          <p:cNvPr id="34" name="hypothesis-generator">
            <a:extLst xmlns:a="http://schemas.openxmlformats.org/drawingml/2006/main">
              <a:ext uri="{FF2B5EF4-FFF2-40B4-BE49-F238E27FC236}">
                <a16:creationId xmlns:a16="http://schemas.microsoft.com/office/drawing/2014/main" id="{E0BEC93C-2D6B-4859-8445-7F787AFB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095750"/>
            <a:ext cx="285750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3E8D3"/>
          </a:solidFill>
          <a:ln xmlns:a="http://schemas.openxmlformats.org/drawingml/2006/main" w="19050">
            <a:solidFill>
              <a:srgbClr val="C4934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5" name="hypothesis-generator-label">
            <a:extLst xmlns:a="http://schemas.openxmlformats.org/drawingml/2006/main">
              <a:ext uri="{FF2B5EF4-FFF2-40B4-BE49-F238E27FC236}">
                <a16:creationId xmlns:a16="http://schemas.microsoft.com/office/drawing/2014/main" id="{0CE11146-3E20-49FB-BCA1-805FEC21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457700"/>
            <a:ext cx="2514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3437"/>
                </a:solidFill>
              </a:defRPr>
            </a:pPr>
            <a:r>
              <a:rPr sz="2100" b="1">
                <a:solidFill>
                  <a:srgbClr val="2F3437"/>
                </a:solidFill>
              </a:rPr>
              <a:t>Hypothesis</a:t>
            </a:r>
          </a:p>
          <a:p xmlns:a="http://schemas.openxmlformats.org/drawingml/2006/main">
            <a:pPr algn="ctr">
              <a:defRPr sz="2100" b="1">
                <a:solidFill>
                  <a:srgbClr val="2F3437"/>
                </a:solidFill>
              </a:defRPr>
            </a:pPr>
            <a:r>
              <a:rPr sz="2100" b="1">
                <a:solidFill>
                  <a:srgbClr val="2F3437"/>
                </a:solidFill>
              </a:rPr>
              <a:t>generator</a:t>
            </a:r>
          </a:p>
        </p:txBody>
      </p:sp>
      <p:sp>
        <p:nvSpPr>
          <p:cNvPr id="36" name="generator-caption">
            <a:extLst xmlns:a="http://schemas.openxmlformats.org/drawingml/2006/main">
              <a:ext uri="{FF2B5EF4-FFF2-40B4-BE49-F238E27FC236}">
                <a16:creationId xmlns:a16="http://schemas.microsoft.com/office/drawing/2014/main" id="{56ACCBA6-02A7-46B0-8ECD-602809A0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7435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47A7A"/>
                </a:solidFill>
              </a:defRPr>
            </a:pPr>
            <a:r>
              <a:rPr sz="1050" b="0">
                <a:solidFill>
                  <a:srgbClr val="747A7A"/>
                </a:solidFill>
              </a:rPr>
              <a:t>cross-domain association · counterfactual search</a:t>
            </a:r>
          </a:p>
        </p:txBody>
      </p:sp>
      <p:sp>
        <p:nvSpPr>
          <p:cNvPr id="37" name="divergence">
            <a:extLst xmlns:a="http://schemas.openxmlformats.org/drawingml/2006/main">
              <a:ext uri="{FF2B5EF4-FFF2-40B4-BE49-F238E27FC236}">
                <a16:creationId xmlns:a16="http://schemas.microsoft.com/office/drawing/2014/main" id="{A1A17198-7CC2-4D0A-AC7B-E3A711D4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6386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3437"/>
          </a:solidFill>
          <a:ln xmlns:a="http://schemas.openxmlformats.org/drawingml/2006/main" w="19050">
            <a:solidFill>
              <a:srgbClr val="2F343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8" name="divergence-label">
            <a:extLst xmlns:a="http://schemas.openxmlformats.org/drawingml/2006/main">
              <a:ext uri="{FF2B5EF4-FFF2-40B4-BE49-F238E27FC236}">
                <a16:creationId xmlns:a16="http://schemas.microsoft.com/office/drawing/2014/main" id="{BECE661D-7067-4281-B5AB-4C213FC1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781550"/>
            <a:ext cx="323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EFB"/>
                </a:solidFill>
              </a:defRPr>
            </a:pPr>
            <a:r>
              <a:rPr sz="1950" b="1">
                <a:solidFill>
                  <a:srgbClr val="FFFEFB"/>
                </a:solidFill>
              </a:rPr>
              <a:t>D</a:t>
            </a:r>
          </a:p>
        </p:txBody>
      </p:sp>
      <p:sp>
        <p:nvSpPr>
          <p:cNvPr id="39" name="empirical-hypothesis">
            <a:extLst xmlns:a="http://schemas.openxmlformats.org/drawingml/2006/main">
              <a:ext uri="{FF2B5EF4-FFF2-40B4-BE49-F238E27FC236}">
                <a16:creationId xmlns:a16="http://schemas.microsoft.com/office/drawing/2014/main" id="{DA4CD8EF-0049-4D24-A3CB-9729C3BF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57500"/>
            <a:ext cx="4286250" cy="1762125"/>
          </a:xfrm>
          <a:prstGeom xmlns:a="http://schemas.openxmlformats.org/drawingml/2006/main" prst="roundRect">
            <a:avLst>
              <a:gd name="adj" fmla="val 9730"/>
            </a:avLst>
          </a:prstGeom>
          <a:solidFill xmlns:a="http://schemas.openxmlformats.org/drawingml/2006/main">
            <a:srgbClr val="F4E4DF"/>
          </a:solidFill>
          <a:ln xmlns:a="http://schemas.openxmlformats.org/drawingml/2006/main" w="19050">
            <a:solidFill>
              <a:srgbClr val="B862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empirical-hypothesis-label">
            <a:extLst xmlns:a="http://schemas.openxmlformats.org/drawingml/2006/main">
              <a:ext uri="{FF2B5EF4-FFF2-40B4-BE49-F238E27FC236}">
                <a16:creationId xmlns:a16="http://schemas.microsoft.com/office/drawing/2014/main" id="{142671A2-FE21-40C1-9DE0-1BA2F72F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124200"/>
            <a:ext cx="39433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F3437"/>
                </a:solidFill>
              </a:defRPr>
            </a:pPr>
            <a:r>
              <a:rPr sz="1950" b="1">
                <a:solidFill>
                  <a:srgbClr val="2F3437"/>
                </a:solidFill>
              </a:rPr>
              <a:t>Empirical hypothesis</a:t>
            </a:r>
          </a:p>
        </p:txBody>
      </p:sp>
      <p:sp>
        <p:nvSpPr>
          <p:cNvPr id="41" name="empirical-body">
            <a:extLst xmlns:a="http://schemas.openxmlformats.org/drawingml/2006/main">
              <a:ext uri="{FF2B5EF4-FFF2-40B4-BE49-F238E27FC236}">
                <a16:creationId xmlns:a16="http://schemas.microsoft.com/office/drawing/2014/main" id="{93BFDCC6-8118-42C9-B43B-C2EA9BE3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71875"/>
            <a:ext cx="3524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47A7A"/>
                </a:solidFill>
              </a:defRPr>
            </a:pPr>
            <a:r>
              <a:rPr sz="1275" b="0">
                <a:solidFill>
                  <a:srgbClr val="747A7A"/>
                </a:solidFill>
              </a:rPr>
              <a:t>Explains result 2 + result 4</a:t>
            </a:r>
          </a:p>
          <a:p xmlns:a="http://schemas.openxmlformats.org/drawingml/2006/main">
            <a:pPr algn="ctr">
              <a:defRPr sz="1275" b="0">
                <a:solidFill>
                  <a:srgbClr val="747A7A"/>
                </a:solidFill>
              </a:defRPr>
            </a:pPr>
            <a:r>
              <a:rPr sz="1275" b="0">
                <a:solidFill>
                  <a:srgbClr val="747A7A"/>
                </a:solidFill>
              </a:rPr>
              <a:t>within the current evidence boundary</a:t>
            </a:r>
          </a:p>
        </p:txBody>
      </p:sp>
      <p:sp>
        <p:nvSpPr>
          <p:cNvPr id="42" name="counter-hypothesis">
            <a:extLst xmlns:a="http://schemas.openxmlformats.org/drawingml/2006/main">
              <a:ext uri="{FF2B5EF4-FFF2-40B4-BE49-F238E27FC236}">
                <a16:creationId xmlns:a16="http://schemas.microsoft.com/office/drawing/2014/main" id="{013D9752-0069-4204-9214-2B9D83C5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429250"/>
            <a:ext cx="4286250" cy="1762125"/>
          </a:xfrm>
          <a:prstGeom xmlns:a="http://schemas.openxmlformats.org/drawingml/2006/main" prst="roundRect">
            <a:avLst>
              <a:gd name="adj" fmla="val 9730"/>
            </a:avLst>
          </a:prstGeom>
          <a:solidFill xmlns:a="http://schemas.openxmlformats.org/drawingml/2006/main">
            <a:srgbClr val="E5ECE7"/>
          </a:solidFill>
          <a:ln xmlns:a="http://schemas.openxmlformats.org/drawingml/2006/main" w="19050">
            <a:solidFill>
              <a:srgbClr val="687D7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3" name="counter-hypothesis-label">
            <a:extLst xmlns:a="http://schemas.openxmlformats.org/drawingml/2006/main">
              <a:ext uri="{FF2B5EF4-FFF2-40B4-BE49-F238E27FC236}">
                <a16:creationId xmlns:a16="http://schemas.microsoft.com/office/drawing/2014/main" id="{F8D29345-CF71-49D5-A9DD-3B8B4BA7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695950"/>
            <a:ext cx="39433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3437"/>
                </a:solidFill>
              </a:defRPr>
            </a:pPr>
            <a:r>
              <a:rPr sz="1875" b="1">
                <a:solidFill>
                  <a:srgbClr val="2F3437"/>
                </a:solidFill>
              </a:rPr>
              <a:t>Counter-empirical hypothesis</a:t>
            </a:r>
          </a:p>
        </p:txBody>
      </p:sp>
      <p:sp>
        <p:nvSpPr>
          <p:cNvPr id="44" name="counter-body">
            <a:extLst xmlns:a="http://schemas.openxmlformats.org/drawingml/2006/main">
              <a:ext uri="{FF2B5EF4-FFF2-40B4-BE49-F238E27FC236}">
                <a16:creationId xmlns:a16="http://schemas.microsoft.com/office/drawing/2014/main" id="{AAB27FF3-BD4B-4AC7-BD24-752A504F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43625"/>
            <a:ext cx="3524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47A7A"/>
                </a:solidFill>
              </a:defRPr>
            </a:pPr>
            <a:r>
              <a:rPr sz="1275" b="0">
                <a:solidFill>
                  <a:srgbClr val="747A7A"/>
                </a:solidFill>
              </a:rPr>
              <a:t>Connects result 3 + result 2</a:t>
            </a:r>
          </a:p>
          <a:p xmlns:a="http://schemas.openxmlformats.org/drawingml/2006/main">
            <a:pPr algn="ctr">
              <a:defRPr sz="1275" b="0">
                <a:solidFill>
                  <a:srgbClr val="747A7A"/>
                </a:solidFill>
              </a:defRPr>
            </a:pPr>
            <a:r>
              <a:rPr sz="1275" b="0">
                <a:solidFill>
                  <a:srgbClr val="747A7A"/>
                </a:solidFill>
              </a:rPr>
              <a:t>by crossing the inherited prior</a:t>
            </a:r>
          </a:p>
        </p:txBody>
      </p:sp>
      <p:sp>
        <p:nvSpPr>
          <p:cNvPr id="45" name="verification-gate">
            <a:extLst xmlns:a="http://schemas.openxmlformats.org/drawingml/2006/main">
              <a:ext uri="{FF2B5EF4-FFF2-40B4-BE49-F238E27FC236}">
                <a16:creationId xmlns:a16="http://schemas.microsoft.com/office/drawing/2014/main" id="{3CEE342B-496B-4E3E-94C0-5E131E4C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953250"/>
            <a:ext cx="2381250" cy="8001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586776"/>
          </a:solidFill>
          <a:ln xmlns:a="http://schemas.openxmlformats.org/drawingml/2006/main" w="19050">
            <a:solidFill>
              <a:srgbClr val="58677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6" name="verification-gate-label">
            <a:extLst xmlns:a="http://schemas.openxmlformats.org/drawingml/2006/main">
              <a:ext uri="{FF2B5EF4-FFF2-40B4-BE49-F238E27FC236}">
                <a16:creationId xmlns:a16="http://schemas.microsoft.com/office/drawing/2014/main" id="{1D1E98B5-F807-4550-AF1D-60E73BAC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7191375"/>
            <a:ext cx="2038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EFB"/>
                </a:solidFill>
              </a:defRPr>
            </a:pPr>
            <a:r>
              <a:rPr sz="1575" b="1">
                <a:solidFill>
                  <a:srgbClr val="FFFEFB"/>
                </a:solidFill>
              </a:rPr>
              <a:t>VERIFY · UPDATE</a:t>
            </a:r>
          </a:p>
        </p:txBody>
      </p:sp>
      <p:sp>
        <p:nvSpPr>
          <p:cNvPr id="47" name="footer-note">
            <a:extLst xmlns:a="http://schemas.openxmlformats.org/drawingml/2006/main">
              <a:ext uri="{FF2B5EF4-FFF2-40B4-BE49-F238E27FC236}">
                <a16:creationId xmlns:a16="http://schemas.microsoft.com/office/drawing/2014/main" id="{2B2B1A85-7FC1-40B3-B04E-F5105813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96250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47A7A"/>
                </a:solidFill>
              </a:defRPr>
            </a:pPr>
            <a:r>
              <a:rPr sz="1200" b="0">
                <a:solidFill>
                  <a:srgbClr val="747A7A"/>
                </a:solidFill>
              </a:rPr>
              <a:t>Hallucination becomes research only after it produces a falsifiable prediction.</a:t>
            </a:r>
          </a:p>
        </p:txBody>
      </p:sp>
    </p:spTree>
    <p:extLst>
      <p:ext uri="{BB962C8B-B14F-4D97-AF65-F5344CB8AC3E}">
        <p14:creationId xmlns:p14="http://schemas.microsoft.com/office/powerpoint/2010/main" val="20580405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2026-07-26T06:43:43.1290000Z</dcterms:created>
  <dcterms:modified xsi:type="dcterms:W3CDTF">2026-07-26T06:43:43.1290000Z</dcterms:modified>
</coreProperties>
</file>