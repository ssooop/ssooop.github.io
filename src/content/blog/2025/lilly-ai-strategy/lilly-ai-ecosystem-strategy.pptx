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ec9bb126f46de" /><Relationship Type="http://schemas.openxmlformats.org/officeDocument/2006/relationships/extended-properties" Target="/docProps/app.xml" Id="Rd0ad023c27c944b7" /><Relationship Type="http://schemas.openxmlformats.org/officeDocument/2006/relationships/officeDocument" Target="/ppt/presentation.xml" Id="R5f9cc8fe90984f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7655de5bc4755"/>
  </p:sldMasterIdLst>
  <p:notesMasterIdLst>
    <p:notesMasterId xmlns:r="http://schemas.openxmlformats.org/officeDocument/2006/relationships" r:id="Rc32b47ff6c3044b7"/>
  </p:notesMasterIdLst>
  <p:sldIdLst>
    <p:sldId xmlns:r="http://schemas.openxmlformats.org/officeDocument/2006/relationships" id="256" r:id="R0046b2edc4af43a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e44ec60d34445a" /><Relationship Type="http://schemas.openxmlformats.org/officeDocument/2006/relationships/slideMaster" Target="/ppt/slideMasters/slideMaster1.xml" Id="R9e67655de5bc4755" /><Relationship Type="http://schemas.openxmlformats.org/officeDocument/2006/relationships/notesMaster" Target="/ppt/notesMasters/notesMaster1.xml" Id="Rc32b47ff6c3044b7" /><Relationship Type="http://schemas.openxmlformats.org/officeDocument/2006/relationships/presProps" Target="/ppt/presProps.xml" Id="R6a78184207154be5" /><Relationship Type="http://schemas.openxmlformats.org/officeDocument/2006/relationships/tableStyles" Target="/ppt/tableStyles.xml" Id="R82efc97bf0114169" /><Relationship Type="http://schemas.openxmlformats.org/officeDocument/2006/relationships/slide" Target="/ppt/slides/slide1.xml" Id="R0046b2edc4af43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16b2cc3796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b227efc88945ef" /><Relationship Type="http://schemas.openxmlformats.org/officeDocument/2006/relationships/notesMaster" Target="/ppt/notesMasters/notesMaster1.xml" Id="Rc3d890d130e3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Author-provided ecosystem architecture reference (concept and sequencing).</a:t>
            </a:r>
          </a:p>
          <a:p xmlns:a="http://schemas.openxmlformats.org/drawingml/2006/main">
            <a:r>
              <a:t>- Nimbus Therapeutics logo: https://www.nimbustx.com/</a:t>
            </a:r>
          </a:p>
          <a:p xmlns:a="http://schemas.openxmlformats.org/drawingml/2006/main">
            <a:r>
              <a:t>- Isomorphic Labs logo: https://www.isomorphiclabs.com/</a:t>
            </a:r>
          </a:p>
          <a:p xmlns:a="http://schemas.openxmlformats.org/drawingml/2006/main">
            <a:r>
              <a:t>- BigHat Biosciences logo: https://www.bighatbio.com/</a:t>
            </a:r>
          </a:p>
          <a:p xmlns:a="http://schemas.openxmlformats.org/drawingml/2006/main">
            <a:r>
              <a:t>- insitro logo: https://www.insitro.com/</a:t>
            </a:r>
          </a:p>
          <a:p xmlns:a="http://schemas.openxmlformats.org/drawingml/2006/main">
            <a:r>
              <a:t>- Circle Pharma logo: https://circlepharma.com/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a17004b7d4c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cc2945dbf9410e" /><Relationship Type="http://schemas.openxmlformats.org/officeDocument/2006/relationships/slideLayout" Target="/ppt/slideLayouts/slideLayout1.xml" Id="R3d91ca9a375e45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91ca9a375e45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b81fbe8744bdf" /><Relationship Type="http://schemas.openxmlformats.org/officeDocument/2006/relationships/image" Target="/ppt/media/image.png" Id="R1ff4d555dee14141" /><Relationship Type="http://schemas.openxmlformats.org/officeDocument/2006/relationships/image" Target="/ppt/media/image2.png" Id="Rfb87e076a9fb4e71" /><Relationship Type="http://schemas.openxmlformats.org/officeDocument/2006/relationships/image" Target="/ppt/media/image3.png" Id="R63ca153205c94ac5" /><Relationship Type="http://schemas.openxmlformats.org/officeDocument/2006/relationships/image" Target="/ppt/media/image4.png" Id="R4db0aeeed3b84862" /><Relationship Type="http://schemas.openxmlformats.org/officeDocument/2006/relationships/image" Target="/ppt/media/image5.png" Id="R0b5f850e39a34464" /><Relationship Type="http://schemas.openxmlformats.org/officeDocument/2006/relationships/notesSlide" Target="/ppt/notesSlides/notesSlide1.xml" Id="R6b1363b41b9c47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trategy-field">
            <a:extLst xmlns:a="http://schemas.openxmlformats.org/drawingml/2006/main">
              <a:ext uri="{FF2B5EF4-FFF2-40B4-BE49-F238E27FC236}">
                <a16:creationId xmlns:a16="http://schemas.microsoft.com/office/drawing/2014/main" id="{887384D2-68F4-4834-8C63-8E6CCCFD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4249400" cy="5010150"/>
          </a:xfrm>
          <a:prstGeom xmlns:a="http://schemas.openxmlformats.org/drawingml/2006/main" prst="roundRect">
            <a:avLst>
              <a:gd name="adj" fmla="val 5703"/>
            </a:avLst>
          </a:prstGeom>
          <a:solidFill xmlns:a="http://schemas.openxmlformats.org/drawingml/2006/main">
            <a:srgbClr val="0C2134"/>
          </a:solidFill>
          <a:ln xmlns:a="http://schemas.openxmlformats.org/drawingml/2006/main" w="19050">
            <a:solidFill>
              <a:srgbClr val="17364E"/>
            </a:solidFill>
            <a:prstDash val="solid"/>
          </a:ln>
        </p:spPr>
      </p:sp>
      <p:sp>
        <p:nvSpPr>
          <p:cNvPr id="2" name="anchor-observe">
            <a:extLst xmlns:a="http://schemas.openxmlformats.org/drawingml/2006/main">
              <a:ext uri="{FF2B5EF4-FFF2-40B4-BE49-F238E27FC236}">
                <a16:creationId xmlns:a16="http://schemas.microsoft.com/office/drawing/2014/main" id="{B2D25FF4-318E-46B6-AB52-5DD09860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33800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anchor-codify">
            <a:extLst xmlns:a="http://schemas.openxmlformats.org/drawingml/2006/main">
              <a:ext uri="{FF2B5EF4-FFF2-40B4-BE49-F238E27FC236}">
                <a16:creationId xmlns:a16="http://schemas.microsoft.com/office/drawing/2014/main" id="{B2DC43A6-2956-49DF-8497-9E81EE1A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33800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anchor-orchestrate">
            <a:extLst xmlns:a="http://schemas.openxmlformats.org/drawingml/2006/main">
              <a:ext uri="{FF2B5EF4-FFF2-40B4-BE49-F238E27FC236}">
                <a16:creationId xmlns:a16="http://schemas.microsoft.com/office/drawing/2014/main" id="{71C1207F-1A11-45D1-BC24-64F6177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3733800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2" idx="6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267075" y="419100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5E7484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8077200" y="419100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5E7484"/>
            </a:solidFill>
            <a:prstDash val="solid"/>
            <a:tailEnd type="triangle" w="sm" len="sm"/>
          </a:ln>
        </p:spPr>
      </p:cxn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D47281B-001A-41EB-A414-E791E814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FA4"/>
                </a:solidFill>
              </a:defRPr>
            </a:pPr>
            <a:r>
              <a:rPr sz="1200" b="1">
                <a:solidFill>
                  <a:srgbClr val="4EAFA4"/>
                </a:solidFill>
              </a:rPr>
              <a:t>ELI LILLY · PARTNERSHIP ARCHITECTURE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7F05845-3212-4875-9D1E-7EDC7596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42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5EF"/>
                </a:solidFill>
              </a:defRPr>
            </a:pPr>
            <a:r>
              <a:rPr sz="4050" b="1">
                <a:solidFill>
                  <a:srgbClr val="F7F5EF"/>
                </a:solidFill>
              </a:rPr>
              <a:t>Lilly’s AI ecosystem strategy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C545B8D9-DB20-4D7B-BD17-9A07ABC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295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FC2CF"/>
                </a:solidFill>
              </a:defRPr>
            </a:pPr>
            <a:r>
              <a:rPr sz="1800" b="0">
                <a:solidFill>
                  <a:srgbClr val="AFC2CF"/>
                </a:solidFill>
              </a:rPr>
              <a:t>External partnerships evolve from observation to an operating model—and finally to ecosystem leverage.</a:t>
            </a:r>
          </a:p>
        </p:txBody>
      </p:sp>
      <p:sp>
        <p:nvSpPr>
          <p:cNvPr id="10" name="observe-node">
            <a:extLst xmlns:a="http://schemas.openxmlformats.org/drawingml/2006/main">
              <a:ext uri="{FF2B5EF4-FFF2-40B4-BE49-F238E27FC236}">
                <a16:creationId xmlns:a16="http://schemas.microsoft.com/office/drawing/2014/main" id="{F4C23712-4262-4EFF-87B1-387854D2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33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B5"/>
          </a:solidFill>
          <a:ln xmlns:a="http://schemas.openxmlformats.org/drawingml/2006/main" w="76200">
            <a:solidFill>
              <a:srgbClr val="0715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observe-number">
            <a:extLst xmlns:a="http://schemas.openxmlformats.org/drawingml/2006/main">
              <a:ext uri="{FF2B5EF4-FFF2-40B4-BE49-F238E27FC236}">
                <a16:creationId xmlns:a16="http://schemas.microsoft.com/office/drawing/2014/main" id="{43CF9DEF-16F1-44D0-92D0-AFCD64FB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433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observe-label">
            <a:extLst xmlns:a="http://schemas.openxmlformats.org/drawingml/2006/main">
              <a:ext uri="{FF2B5EF4-FFF2-40B4-BE49-F238E27FC236}">
                <a16:creationId xmlns:a16="http://schemas.microsoft.com/office/drawing/2014/main" id="{EDFF26F7-F544-47EE-A392-6EFA2DB9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C6EB5"/>
                </a:solidFill>
              </a:defRPr>
            </a:pPr>
            <a:r>
              <a:rPr sz="1800" b="1">
                <a:solidFill>
                  <a:srgbClr val="2C6EB5"/>
                </a:solidFill>
              </a:rPr>
              <a:t>OBSERVE</a:t>
            </a:r>
          </a:p>
        </p:txBody>
      </p:sp>
      <p:sp>
        <p:nvSpPr>
          <p:cNvPr id="13" name="observe-description">
            <a:extLst xmlns:a="http://schemas.openxmlformats.org/drawingml/2006/main">
              <a:ext uri="{FF2B5EF4-FFF2-40B4-BE49-F238E27FC236}">
                <a16:creationId xmlns:a16="http://schemas.microsoft.com/office/drawing/2014/main" id="{C20B3D1C-10A6-4F47-BD3D-C902D2E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CF"/>
                </a:solidFill>
              </a:defRPr>
            </a:pPr>
            <a:r>
              <a:rPr sz="1275" b="0">
                <a:solidFill>
                  <a:srgbClr val="AFC2CF"/>
                </a:solidFill>
              </a:rPr>
              <a:t>Track product-linked proof points before committing to a broader AI thesis.</a:t>
            </a:r>
          </a:p>
        </p:txBody>
      </p:sp>
      <p:sp>
        <p:nvSpPr>
          <p:cNvPr id="14" name="codify-node">
            <a:extLst xmlns:a="http://schemas.openxmlformats.org/drawingml/2006/main">
              <a:ext uri="{FF2B5EF4-FFF2-40B4-BE49-F238E27FC236}">
                <a16:creationId xmlns:a16="http://schemas.microsoft.com/office/drawing/2014/main" id="{23C963AA-4E61-4D8C-BE94-AAF962FA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33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36"/>
          </a:solidFill>
          <a:ln xmlns:a="http://schemas.openxmlformats.org/drawingml/2006/main" w="76200">
            <a:solidFill>
              <a:srgbClr val="0715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codify-number">
            <a:extLst xmlns:a="http://schemas.openxmlformats.org/drawingml/2006/main">
              <a:ext uri="{FF2B5EF4-FFF2-40B4-BE49-F238E27FC236}">
                <a16:creationId xmlns:a16="http://schemas.microsoft.com/office/drawing/2014/main" id="{EF1564EF-C798-4456-BDBF-620A7C9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codify-label">
            <a:extLst xmlns:a="http://schemas.openxmlformats.org/drawingml/2006/main">
              <a:ext uri="{FF2B5EF4-FFF2-40B4-BE49-F238E27FC236}">
                <a16:creationId xmlns:a16="http://schemas.microsoft.com/office/drawing/2014/main" id="{6C1A95BD-8BB9-468A-807E-B0E136D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A36"/>
                </a:solidFill>
              </a:defRPr>
            </a:pPr>
            <a:r>
              <a:rPr sz="1800" b="1">
                <a:solidFill>
                  <a:srgbClr val="F28A36"/>
                </a:solidFill>
              </a:rPr>
              <a:t>CODIFY</a:t>
            </a:r>
          </a:p>
        </p:txBody>
      </p:sp>
      <p:sp>
        <p:nvSpPr>
          <p:cNvPr id="17" name="codify-description">
            <a:extLst xmlns:a="http://schemas.openxmlformats.org/drawingml/2006/main">
              <a:ext uri="{FF2B5EF4-FFF2-40B4-BE49-F238E27FC236}">
                <a16:creationId xmlns:a16="http://schemas.microsoft.com/office/drawing/2014/main" id="{D5ECEA77-6FEE-4C4F-8A7A-81E16940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CF"/>
                </a:solidFill>
              </a:defRPr>
            </a:pPr>
            <a:r>
              <a:rPr sz="1275" b="0">
                <a:solidFill>
                  <a:srgbClr val="AFC2CF"/>
                </a:solidFill>
              </a:rPr>
              <a:t>Combine structure prediction, antibody design, and wet-lab loops into a repeatable method.</a:t>
            </a:r>
          </a:p>
        </p:txBody>
      </p:sp>
      <p:sp>
        <p:nvSpPr>
          <p:cNvPr id="18" name="orchestrate-node">
            <a:extLst xmlns:a="http://schemas.openxmlformats.org/drawingml/2006/main">
              <a:ext uri="{FF2B5EF4-FFF2-40B4-BE49-F238E27FC236}">
                <a16:creationId xmlns:a16="http://schemas.microsoft.com/office/drawing/2014/main" id="{22B394A2-57DB-4141-BEBC-6CBDC1F0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37338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767"/>
          </a:solidFill>
          <a:ln xmlns:a="http://schemas.openxmlformats.org/drawingml/2006/main" w="76200">
            <a:solidFill>
              <a:srgbClr val="0715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orchestrate-number">
            <a:extLst xmlns:a="http://schemas.openxmlformats.org/drawingml/2006/main">
              <a:ext uri="{FF2B5EF4-FFF2-40B4-BE49-F238E27FC236}">
                <a16:creationId xmlns:a16="http://schemas.microsoft.com/office/drawing/2014/main" id="{EBE3C1F9-D3CD-46EB-A1C6-7342E2C1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394335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orchestrate-label">
            <a:extLst xmlns:a="http://schemas.openxmlformats.org/drawingml/2006/main">
              <a:ext uri="{FF2B5EF4-FFF2-40B4-BE49-F238E27FC236}">
                <a16:creationId xmlns:a16="http://schemas.microsoft.com/office/drawing/2014/main" id="{7E121A9F-2284-4E0A-9220-3B07662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6767"/>
                </a:solidFill>
              </a:defRPr>
            </a:pPr>
            <a:r>
              <a:rPr sz="1800" b="1">
                <a:solidFill>
                  <a:srgbClr val="E86767"/>
                </a:solidFill>
              </a:rPr>
              <a:t>ORCHESTRATE</a:t>
            </a:r>
          </a:p>
        </p:txBody>
      </p:sp>
      <p:sp>
        <p:nvSpPr>
          <p:cNvPr id="21" name="orchestrate-description">
            <a:extLst xmlns:a="http://schemas.openxmlformats.org/drawingml/2006/main">
              <a:ext uri="{FF2B5EF4-FFF2-40B4-BE49-F238E27FC236}">
                <a16:creationId xmlns:a16="http://schemas.microsoft.com/office/drawing/2014/main" id="{9C8C18B9-3346-4C56-B98E-9C3F619C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2CF"/>
                </a:solidFill>
              </a:defRPr>
            </a:pPr>
            <a:r>
              <a:rPr sz="1275" b="0">
                <a:solidFill>
                  <a:srgbClr val="AFC2CF"/>
                </a:solidFill>
              </a:rPr>
              <a:t>Use data access and shared infrastructure to turn partners into a durable network.</a:t>
            </a:r>
          </a:p>
        </p:txBody>
      </p:sp>
      <p:sp>
        <p:nvSpPr>
          <p:cNvPr id="22" name="nimbus-surface">
            <a:extLst xmlns:a="http://schemas.openxmlformats.org/drawingml/2006/main">
              <a:ext uri="{FF2B5EF4-FFF2-40B4-BE49-F238E27FC236}">
                <a16:creationId xmlns:a16="http://schemas.microsoft.com/office/drawing/2014/main" id="{0D35F4F7-CA18-4D37-900F-222D7260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33337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304B"/>
          </a:solidFill>
          <a:ln xmlns:a="http://schemas.openxmlformats.org/drawingml/2006/main" w="9525">
            <a:solidFill>
              <a:srgbClr val="2C6E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4d555dee14141"/>
          <a:stretch xmlns:a="http://schemas.openxmlformats.org/drawingml/2006/main"/>
        </p:blipFill>
        <p:spPr>
          <a:xfrm xmlns:a="http://schemas.openxmlformats.org/drawingml/2006/main">
            <a:off x="1238250" y="5241791"/>
            <a:ext cx="2609850" cy="813069"/>
          </a:xfrm>
          <a:prstGeom xmlns:a="http://schemas.openxmlformats.org/drawingml/2006/main" prst="rect">
            <a:avLst/>
          </a:prstGeom>
        </p:spPr>
      </p:pic>
      <p:sp>
        <p:nvSpPr>
          <p:cNvPr id="24" name="isomorphic-surface">
            <a:extLst xmlns:a="http://schemas.openxmlformats.org/drawingml/2006/main">
              <a:ext uri="{FF2B5EF4-FFF2-40B4-BE49-F238E27FC236}">
                <a16:creationId xmlns:a16="http://schemas.microsoft.com/office/drawing/2014/main" id="{6AC7643D-BC09-4D11-A22C-ABCAFAD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4095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7e076a9fb4e71"/>
          <a:stretch xmlns:a="http://schemas.openxmlformats.org/drawingml/2006/main"/>
        </p:blipFill>
        <p:spPr>
          <a:xfrm xmlns:a="http://schemas.openxmlformats.org/drawingml/2006/main">
            <a:off x="5939155" y="5124450"/>
            <a:ext cx="2352040" cy="609600"/>
          </a:xfrm>
          <a:prstGeom xmlns:a="http://schemas.openxmlformats.org/drawingml/2006/main" prst="rect">
            <a:avLst/>
          </a:prstGeom>
        </p:spPr>
      </p:pic>
      <p:sp>
        <p:nvSpPr>
          <p:cNvPr id="26" name="bighat-surface">
            <a:extLst xmlns:a="http://schemas.openxmlformats.org/drawingml/2006/main">
              <a:ext uri="{FF2B5EF4-FFF2-40B4-BE49-F238E27FC236}">
                <a16:creationId xmlns:a16="http://schemas.microsoft.com/office/drawing/2014/main" id="{EFBECE78-4AD1-4845-9A2E-8112DB6B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038850"/>
            <a:ext cx="409575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02B64"/>
          </a:solidFill>
          <a:ln xmlns:a="http://schemas.openxmlformats.org/drawingml/2006/main" w="9525">
            <a:solidFill>
              <a:srgbClr val="6F65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a153205c94ac5"/>
          <a:stretch xmlns:a="http://schemas.openxmlformats.org/drawingml/2006/main"/>
        </p:blipFill>
        <p:spPr>
          <a:xfrm xmlns:a="http://schemas.openxmlformats.org/drawingml/2006/main">
            <a:off x="6124575" y="6191250"/>
            <a:ext cx="1981200" cy="495300"/>
          </a:xfrm>
          <a:prstGeom xmlns:a="http://schemas.openxmlformats.org/drawingml/2006/main" prst="rect">
            <a:avLst/>
          </a:prstGeom>
        </p:spPr>
      </p:pic>
      <p:sp>
        <p:nvSpPr>
          <p:cNvPr id="28" name="insitro-surface">
            <a:extLst xmlns:a="http://schemas.openxmlformats.org/drawingml/2006/main">
              <a:ext uri="{FF2B5EF4-FFF2-40B4-BE49-F238E27FC236}">
                <a16:creationId xmlns:a16="http://schemas.microsoft.com/office/drawing/2014/main" id="{E6298FD5-913A-4026-851C-AC821E9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33950"/>
            <a:ext cx="4191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7304C"/>
          </a:solidFill>
          <a:ln xmlns:a="http://schemas.openxmlformats.org/drawingml/2006/main" w="9525">
            <a:solidFill>
              <a:srgbClr val="1D6B8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0aeeed3b84862"/>
          <a:stretch xmlns:a="http://schemas.openxmlformats.org/drawingml/2006/main"/>
        </p:blipFill>
        <p:spPr>
          <a:xfrm xmlns:a="http://schemas.openxmlformats.org/drawingml/2006/main">
            <a:off x="11079816" y="5124450"/>
            <a:ext cx="1748118" cy="514350"/>
          </a:xfrm>
          <a:prstGeom xmlns:a="http://schemas.openxmlformats.org/drawingml/2006/main" prst="rect">
            <a:avLst/>
          </a:prstGeom>
        </p:spPr>
      </p:pic>
      <p:sp>
        <p:nvSpPr>
          <p:cNvPr id="30" name="circle-pharma-surface">
            <a:extLst xmlns:a="http://schemas.openxmlformats.org/drawingml/2006/main">
              <a:ext uri="{FF2B5EF4-FFF2-40B4-BE49-F238E27FC236}">
                <a16:creationId xmlns:a16="http://schemas.microsoft.com/office/drawing/2014/main" id="{4D585DBE-1303-4247-B4AC-36B2E285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43600"/>
            <a:ext cx="4191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f850e39a34464"/>
          <a:stretch xmlns:a="http://schemas.openxmlformats.org/drawingml/2006/main"/>
        </p:blipFill>
        <p:spPr>
          <a:xfrm xmlns:a="http://schemas.openxmlformats.org/drawingml/2006/main">
            <a:off x="10928106" y="6143625"/>
            <a:ext cx="2051538" cy="495300"/>
          </a:xfrm>
          <a:prstGeom xmlns:a="http://schemas.openxmlformats.org/drawingml/2006/main" prst="rect">
            <a:avLst/>
          </a:prstGeom>
        </p:spPr>
      </p:pic>
      <p:sp>
        <p:nvSpPr>
          <p:cNvPr id="32" name="takeaway">
            <a:extLst xmlns:a="http://schemas.openxmlformats.org/drawingml/2006/main">
              <a:ext uri="{FF2B5EF4-FFF2-40B4-BE49-F238E27FC236}">
                <a16:creationId xmlns:a16="http://schemas.microsoft.com/office/drawing/2014/main" id="{2FF46967-574D-4BBE-91E0-28060AF0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48550"/>
            <a:ext cx="1341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5EF"/>
                </a:solidFill>
              </a:defRPr>
            </a:pPr>
            <a:r>
              <a:rPr sz="1800" b="1">
                <a:solidFill>
                  <a:srgbClr val="F7F5EF"/>
                </a:solidFill>
              </a:rPr>
              <a:t>The strategic asset is not one model. It is the ability to absorb partner capabilities and make them repeatable.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A8A6E2AB-926F-4104-A2B2-35191311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20050"/>
            <a:ext cx="1341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7484"/>
                </a:solidFill>
              </a:defRPr>
            </a:pPr>
            <a:r>
              <a:rPr sz="975" b="0">
                <a:solidFill>
                  <a:srgbClr val="5E7484"/>
                </a:solidFill>
              </a:rPr>
              <a:t>Concept redrawn from the author’s original architecture · Logos remain the property of their respective owners</a:t>
            </a:r>
          </a:p>
        </p:txBody>
      </p:sp>
    </p:spTree>
    <p:extLst>
      <p:ext uri="{BB962C8B-B14F-4D97-AF65-F5344CB8AC3E}">
        <p14:creationId xmlns:p14="http://schemas.microsoft.com/office/powerpoint/2010/main" val="1862024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2026-07-26T07:07:44.9780000Z</dcterms:created>
  <dcterms:modified xsi:type="dcterms:W3CDTF">2026-07-26T07:07:44.9780000Z</dcterms:modified>
</coreProperties>
</file>